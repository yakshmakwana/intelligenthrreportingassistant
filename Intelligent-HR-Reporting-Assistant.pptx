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" panose="020B0604020202020204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</p:embeddedFont>
    <p:embeddedFont>
      <p:font typeface="Raleway Light" pitchFamily="2" charset="0"/>
      <p:regular r:id="rId18"/>
    </p:embeddedFont>
    <p:embeddedFont>
      <p:font typeface="Roboto" panose="02000000000000000000" pitchFamily="2" charset="0"/>
      <p:regular r:id="rId19"/>
    </p:embeddedFont>
    <p:embeddedFont>
      <p:font typeface="Roboto Bold" panose="02000000000000000000" charset="0"/>
      <p:regular r:id="rId20"/>
    </p:embeddedFont>
    <p:embeddedFont>
      <p:font typeface="Roboto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051169"/>
            <a:ext cx="16303114" cy="61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2"/>
              </a:lnSpc>
            </a:pPr>
            <a:r>
              <a:rPr lang="en-US" sz="36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Intelligent HR Reporting Assistant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697984"/>
            <a:ext cx="16303114" cy="30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sz="1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AI-Powered Natural Language HR Reporting System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58269" y="2216944"/>
            <a:ext cx="8192481" cy="3424533"/>
            <a:chOff x="0" y="0"/>
            <a:chExt cx="10923308" cy="45660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23270" cy="4565904"/>
            </a:xfrm>
            <a:custGeom>
              <a:avLst/>
              <a:gdLst/>
              <a:ahLst/>
              <a:cxnLst/>
              <a:rect l="l" t="t" r="r" b="b"/>
              <a:pathLst>
                <a:path w="10923270" h="4565904">
                  <a:moveTo>
                    <a:pt x="0" y="178562"/>
                  </a:moveTo>
                  <a:cubicBezTo>
                    <a:pt x="0" y="80010"/>
                    <a:pt x="80010" y="0"/>
                    <a:pt x="178562" y="0"/>
                  </a:cubicBezTo>
                  <a:lnTo>
                    <a:pt x="10744708" y="0"/>
                  </a:lnTo>
                  <a:cubicBezTo>
                    <a:pt x="10843387" y="0"/>
                    <a:pt x="10923270" y="80010"/>
                    <a:pt x="10923270" y="178562"/>
                  </a:cubicBezTo>
                  <a:lnTo>
                    <a:pt x="10923270" y="4387342"/>
                  </a:lnTo>
                  <a:cubicBezTo>
                    <a:pt x="10923270" y="4486021"/>
                    <a:pt x="10843260" y="4565904"/>
                    <a:pt x="10744708" y="4565904"/>
                  </a:cubicBezTo>
                  <a:lnTo>
                    <a:pt x="178562" y="4565904"/>
                  </a:lnTo>
                  <a:cubicBezTo>
                    <a:pt x="80010" y="4566031"/>
                    <a:pt x="0" y="4486021"/>
                    <a:pt x="0" y="4387469"/>
                  </a:cubicBezTo>
                  <a:close/>
                </a:path>
              </a:pathLst>
            </a:custGeom>
            <a:solidFill>
              <a:srgbClr val="0066CC">
                <a:alpha val="90196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44302" y="2337349"/>
            <a:ext cx="7820425" cy="30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Student Information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80249" y="2337349"/>
            <a:ext cx="7924600" cy="30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Project 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0249" y="2748410"/>
            <a:ext cx="7924600" cy="1200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web-based HR reporting system that enables users to ask questions about employee data using </a:t>
            </a:r>
            <a:r>
              <a:rPr lang="en-US" sz="16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natural language</a:t>
            </a: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no SQL knowledge required. The system automatically converts plain-English questions into safe, validated SQL queries and returns data-driven answers.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59302" y="4120001"/>
            <a:ext cx="8559937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0" i="1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"Ask HR questions in natural language and receive data-driven answers securely."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80249" y="4032637"/>
            <a:ext cx="19050" cy="511378"/>
            <a:chOff x="0" y="0"/>
            <a:chExt cx="25400" cy="6818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400" cy="681863"/>
            </a:xfrm>
            <a:custGeom>
              <a:avLst/>
              <a:gdLst/>
              <a:ahLst/>
              <a:cxnLst/>
              <a:rect l="l" t="t" r="r" b="b"/>
              <a:pathLst>
                <a:path w="25400" h="681863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669163"/>
                  </a:lnTo>
                  <a:cubicBezTo>
                    <a:pt x="25400" y="676148"/>
                    <a:pt x="19685" y="681863"/>
                    <a:pt x="12700" y="681863"/>
                  </a:cubicBezTo>
                  <a:cubicBezTo>
                    <a:pt x="5715" y="681863"/>
                    <a:pt x="0" y="676148"/>
                    <a:pt x="0" y="669163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92210" y="5798344"/>
            <a:ext cx="8151562" cy="744141"/>
            <a:chOff x="0" y="0"/>
            <a:chExt cx="10868749" cy="992188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0868787" cy="992251"/>
            </a:xfrm>
            <a:custGeom>
              <a:avLst/>
              <a:gdLst/>
              <a:ahLst/>
              <a:cxnLst/>
              <a:rect l="l" t="t" r="r" b="b"/>
              <a:pathLst>
                <a:path w="10868787" h="992251">
                  <a:moveTo>
                    <a:pt x="0" y="0"/>
                  </a:moveTo>
                  <a:lnTo>
                    <a:pt x="10868787" y="0"/>
                  </a:lnTo>
                  <a:lnTo>
                    <a:pt x="10868787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49" b="-54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178242" y="6662890"/>
            <a:ext cx="7779496" cy="30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8242" y="7018134"/>
            <a:ext cx="777949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Natural language question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143771" y="5798344"/>
            <a:ext cx="8151562" cy="744141"/>
            <a:chOff x="0" y="0"/>
            <a:chExt cx="10868749" cy="992188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0868787" cy="992251"/>
            </a:xfrm>
            <a:custGeom>
              <a:avLst/>
              <a:gdLst/>
              <a:ahLst/>
              <a:cxnLst/>
              <a:rect l="l" t="t" r="r" b="b"/>
              <a:pathLst>
                <a:path w="10868787" h="992251">
                  <a:moveTo>
                    <a:pt x="0" y="0"/>
                  </a:moveTo>
                  <a:lnTo>
                    <a:pt x="10868787" y="0"/>
                  </a:lnTo>
                  <a:lnTo>
                    <a:pt x="10868787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49" b="-54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9329804" y="6662890"/>
            <a:ext cx="7779496" cy="30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AI Assistant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29804" y="7018134"/>
            <a:ext cx="777949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Query understanding &amp; SQL generation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92210" y="7502728"/>
            <a:ext cx="8151562" cy="744141"/>
            <a:chOff x="0" y="0"/>
            <a:chExt cx="10868749" cy="992188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10868787" cy="992251"/>
            </a:xfrm>
            <a:custGeom>
              <a:avLst/>
              <a:gdLst/>
              <a:ahLst/>
              <a:cxnLst/>
              <a:rect l="l" t="t" r="r" b="b"/>
              <a:pathLst>
                <a:path w="10868787" h="992251">
                  <a:moveTo>
                    <a:pt x="0" y="0"/>
                  </a:moveTo>
                  <a:lnTo>
                    <a:pt x="10868787" y="0"/>
                  </a:lnTo>
                  <a:lnTo>
                    <a:pt x="10868787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49" b="-541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178242" y="8367265"/>
            <a:ext cx="7779496" cy="30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HR Database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8242" y="8722519"/>
            <a:ext cx="777949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Secure, validated execution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3771" y="7502728"/>
            <a:ext cx="8151562" cy="744141"/>
            <a:chOff x="0" y="0"/>
            <a:chExt cx="10868749" cy="992188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10868787" cy="992251"/>
            </a:xfrm>
            <a:custGeom>
              <a:avLst/>
              <a:gdLst/>
              <a:ahLst/>
              <a:cxnLst/>
              <a:rect l="l" t="t" r="r" b="b"/>
              <a:pathLst>
                <a:path w="10868787" h="992251">
                  <a:moveTo>
                    <a:pt x="0" y="0"/>
                  </a:moveTo>
                  <a:lnTo>
                    <a:pt x="10868787" y="0"/>
                  </a:lnTo>
                  <a:lnTo>
                    <a:pt x="10868787" y="992251"/>
                  </a:lnTo>
                  <a:lnTo>
                    <a:pt x="0" y="992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49" b="-541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9329804" y="8367265"/>
            <a:ext cx="7779496" cy="30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Answer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29804" y="8722519"/>
            <a:ext cx="7779496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Data-driven result on dashboard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35742" y="2784605"/>
            <a:ext cx="7534265" cy="26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Name :- Yaksh Makwana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Harsh  Makwana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Id:-95</a:t>
            </a:r>
          </a:p>
          <a:p>
            <a:pPr algn="l">
              <a:lnSpc>
                <a:spcPts val="2520"/>
              </a:lnSpc>
            </a:pPr>
            <a:endParaRPr lang="en-US" sz="210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Name:-TalentIQ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Enrollment no :- 202500719010160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202500719010159</a:t>
            </a:r>
          </a:p>
          <a:p>
            <a:pPr algn="l">
              <a:lnSpc>
                <a:spcPts val="2520"/>
              </a:lnSpc>
            </a:pPr>
            <a:endParaRPr lang="en-US" sz="210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255662"/>
            <a:ext cx="16303114" cy="532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31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Problem Statement &amp;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2031054"/>
            <a:ext cx="7621000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2387651"/>
            <a:ext cx="7621000" cy="44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Traditional HR reporting creates a dependency on technical expertise. Non-technical HR users are locked out of direct data access and must rely on IT or analysts for even routine queries.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8632" y="3317672"/>
            <a:ext cx="3321463" cy="45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Knowledge of SQL syntax and database schema structure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11525" y="3317672"/>
            <a:ext cx="3321463" cy="45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Understanding of table relationships and join logic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8632" y="4079672"/>
            <a:ext cx="3321463" cy="45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Complex filtering, aggregation, and date-range logic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11525" y="4079672"/>
            <a:ext cx="3321463" cy="45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Manual report preparation, validation, and delivery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8632" y="4883648"/>
            <a:ext cx="3321463" cy="45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Careful handling of sensitive employee information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210" y="5635971"/>
            <a:ext cx="7621000" cy="694430"/>
            <a:chOff x="0" y="0"/>
            <a:chExt cx="10161334" cy="9259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161270" cy="925957"/>
            </a:xfrm>
            <a:custGeom>
              <a:avLst/>
              <a:gdLst/>
              <a:ahLst/>
              <a:cxnLst/>
              <a:rect l="l" t="t" r="r" b="b"/>
              <a:pathLst>
                <a:path w="10161270" h="925957">
                  <a:moveTo>
                    <a:pt x="0" y="90297"/>
                  </a:moveTo>
                  <a:cubicBezTo>
                    <a:pt x="0" y="40386"/>
                    <a:pt x="40386" y="0"/>
                    <a:pt x="90297" y="0"/>
                  </a:cubicBezTo>
                  <a:lnTo>
                    <a:pt x="10070973" y="0"/>
                  </a:lnTo>
                  <a:cubicBezTo>
                    <a:pt x="10120884" y="0"/>
                    <a:pt x="10161270" y="40386"/>
                    <a:pt x="10161270" y="90297"/>
                  </a:cubicBezTo>
                  <a:lnTo>
                    <a:pt x="10161270" y="835660"/>
                  </a:lnTo>
                  <a:cubicBezTo>
                    <a:pt x="10161270" y="885571"/>
                    <a:pt x="10120884" y="925957"/>
                    <a:pt x="10070973" y="925957"/>
                  </a:cubicBezTo>
                  <a:lnTo>
                    <a:pt x="90297" y="925957"/>
                  </a:lnTo>
                  <a:cubicBezTo>
                    <a:pt x="40386" y="925957"/>
                    <a:pt x="0" y="885444"/>
                    <a:pt x="0" y="835660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153392" y="5801763"/>
            <a:ext cx="201511" cy="161182"/>
            <a:chOff x="0" y="0"/>
            <a:chExt cx="268681" cy="214909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268732" cy="214884"/>
            </a:xfrm>
            <a:custGeom>
              <a:avLst/>
              <a:gdLst/>
              <a:ahLst/>
              <a:cxnLst/>
              <a:rect l="l" t="t" r="r" b="b"/>
              <a:pathLst>
                <a:path w="268732" h="214884">
                  <a:moveTo>
                    <a:pt x="0" y="0"/>
                  </a:moveTo>
                  <a:lnTo>
                    <a:pt x="268732" y="0"/>
                  </a:lnTo>
                  <a:lnTo>
                    <a:pt x="268732" y="214884"/>
                  </a:lnTo>
                  <a:lnTo>
                    <a:pt x="0" y="214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58" r="-1734" b="-1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516075" y="5741784"/>
            <a:ext cx="6935962" cy="45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Non-technical HR users should not need SQL to answer: </a:t>
            </a:r>
            <a:r>
              <a:rPr lang="en-US" sz="1500" i="1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"How many Software Developers were hired during 2018–2020?"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15927" y="2031054"/>
            <a:ext cx="8288779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Project Objectives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011164" y="2415035"/>
            <a:ext cx="372208" cy="372218"/>
            <a:chOff x="0" y="0"/>
            <a:chExt cx="496278" cy="4962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6316" cy="496316"/>
            </a:xfrm>
            <a:custGeom>
              <a:avLst/>
              <a:gdLst/>
              <a:ahLst/>
              <a:cxnLst/>
              <a:rect l="l" t="t" r="r" b="b"/>
              <a:pathLst>
                <a:path w="496316" h="496316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03606" y="0"/>
                  </a:lnTo>
                  <a:cubicBezTo>
                    <a:pt x="454787" y="0"/>
                    <a:pt x="496316" y="41529"/>
                    <a:pt x="496316" y="92710"/>
                  </a:cubicBezTo>
                  <a:lnTo>
                    <a:pt x="496316" y="403606"/>
                  </a:lnTo>
                  <a:cubicBezTo>
                    <a:pt x="496316" y="454787"/>
                    <a:pt x="454787" y="496316"/>
                    <a:pt x="403606" y="496316"/>
                  </a:cubicBezTo>
                  <a:lnTo>
                    <a:pt x="92710" y="496316"/>
                  </a:lnTo>
                  <a:cubicBezTo>
                    <a:pt x="41529" y="496316"/>
                    <a:pt x="0" y="454787"/>
                    <a:pt x="0" y="40360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076277" y="2449935"/>
            <a:ext cx="241840" cy="302266"/>
            <a:chOff x="0" y="0"/>
            <a:chExt cx="322453" cy="40302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2452" cy="403026"/>
            </a:xfrm>
            <a:custGeom>
              <a:avLst/>
              <a:gdLst/>
              <a:ahLst/>
              <a:cxnLst/>
              <a:rect l="l" t="t" r="r" b="b"/>
              <a:pathLst>
                <a:path w="322452" h="403026">
                  <a:moveTo>
                    <a:pt x="0" y="0"/>
                  </a:moveTo>
                  <a:lnTo>
                    <a:pt x="322452" y="0"/>
                  </a:lnTo>
                  <a:lnTo>
                    <a:pt x="322452" y="403026"/>
                  </a:lnTo>
                  <a:lnTo>
                    <a:pt x="0" y="403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2" r="-110362" b="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322453" cy="412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483385" y="2456107"/>
            <a:ext cx="7821320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Natural Language Interface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83385" y="2812704"/>
            <a:ext cx="7821320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Allow users to ask HR questions in plain English without SQL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011164" y="3249368"/>
            <a:ext cx="372208" cy="372218"/>
            <a:chOff x="0" y="0"/>
            <a:chExt cx="496278" cy="49629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6316" cy="496316"/>
            </a:xfrm>
            <a:custGeom>
              <a:avLst/>
              <a:gdLst/>
              <a:ahLst/>
              <a:cxnLst/>
              <a:rect l="l" t="t" r="r" b="b"/>
              <a:pathLst>
                <a:path w="496316" h="496316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03606" y="0"/>
                  </a:lnTo>
                  <a:cubicBezTo>
                    <a:pt x="454787" y="0"/>
                    <a:pt x="496316" y="41529"/>
                    <a:pt x="496316" y="92710"/>
                  </a:cubicBezTo>
                  <a:lnTo>
                    <a:pt x="496316" y="403606"/>
                  </a:lnTo>
                  <a:cubicBezTo>
                    <a:pt x="496316" y="454787"/>
                    <a:pt x="454787" y="496316"/>
                    <a:pt x="403606" y="496316"/>
                  </a:cubicBezTo>
                  <a:lnTo>
                    <a:pt x="92710" y="496316"/>
                  </a:lnTo>
                  <a:cubicBezTo>
                    <a:pt x="41529" y="496316"/>
                    <a:pt x="0" y="454787"/>
                    <a:pt x="0" y="40360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076277" y="3284268"/>
            <a:ext cx="241840" cy="302266"/>
            <a:chOff x="0" y="0"/>
            <a:chExt cx="322453" cy="40302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2452" cy="403026"/>
            </a:xfrm>
            <a:custGeom>
              <a:avLst/>
              <a:gdLst/>
              <a:ahLst/>
              <a:cxnLst/>
              <a:rect l="l" t="t" r="r" b="b"/>
              <a:pathLst>
                <a:path w="322452" h="403026">
                  <a:moveTo>
                    <a:pt x="0" y="0"/>
                  </a:moveTo>
                  <a:lnTo>
                    <a:pt x="322452" y="0"/>
                  </a:lnTo>
                  <a:lnTo>
                    <a:pt x="322452" y="403026"/>
                  </a:lnTo>
                  <a:lnTo>
                    <a:pt x="0" y="403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2" r="-110362" b="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322453" cy="412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483385" y="3290440"/>
            <a:ext cx="7821320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Filter Understanding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83385" y="3647037"/>
            <a:ext cx="7821320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Understand department, job title, status, and hire date filters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011164" y="4083691"/>
            <a:ext cx="372208" cy="372218"/>
            <a:chOff x="0" y="0"/>
            <a:chExt cx="496278" cy="49629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96316" cy="496316"/>
            </a:xfrm>
            <a:custGeom>
              <a:avLst/>
              <a:gdLst/>
              <a:ahLst/>
              <a:cxnLst/>
              <a:rect l="l" t="t" r="r" b="b"/>
              <a:pathLst>
                <a:path w="496316" h="496316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03606" y="0"/>
                  </a:lnTo>
                  <a:cubicBezTo>
                    <a:pt x="454787" y="0"/>
                    <a:pt x="496316" y="41529"/>
                    <a:pt x="496316" y="92710"/>
                  </a:cubicBezTo>
                  <a:lnTo>
                    <a:pt x="496316" y="403606"/>
                  </a:lnTo>
                  <a:cubicBezTo>
                    <a:pt x="496316" y="454787"/>
                    <a:pt x="454787" y="496316"/>
                    <a:pt x="403606" y="496316"/>
                  </a:cubicBezTo>
                  <a:lnTo>
                    <a:pt x="92710" y="496316"/>
                  </a:lnTo>
                  <a:cubicBezTo>
                    <a:pt x="41529" y="496316"/>
                    <a:pt x="0" y="454787"/>
                    <a:pt x="0" y="40360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9076277" y="4118591"/>
            <a:ext cx="241840" cy="302266"/>
            <a:chOff x="0" y="0"/>
            <a:chExt cx="322453" cy="40302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22452" cy="403026"/>
            </a:xfrm>
            <a:custGeom>
              <a:avLst/>
              <a:gdLst/>
              <a:ahLst/>
              <a:cxnLst/>
              <a:rect l="l" t="t" r="r" b="b"/>
              <a:pathLst>
                <a:path w="322452" h="403026">
                  <a:moveTo>
                    <a:pt x="0" y="0"/>
                  </a:moveTo>
                  <a:lnTo>
                    <a:pt x="322452" y="0"/>
                  </a:lnTo>
                  <a:lnTo>
                    <a:pt x="322452" y="403026"/>
                  </a:lnTo>
                  <a:lnTo>
                    <a:pt x="0" y="403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2" r="-110362" b="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322453" cy="412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483385" y="4124773"/>
            <a:ext cx="7821320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Automatic SQL Generation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83385" y="4481360"/>
            <a:ext cx="7821320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Convert understood intent into appropriate SQL queries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011164" y="4918024"/>
            <a:ext cx="372208" cy="372218"/>
            <a:chOff x="0" y="0"/>
            <a:chExt cx="496278" cy="49629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96316" cy="496316"/>
            </a:xfrm>
            <a:custGeom>
              <a:avLst/>
              <a:gdLst/>
              <a:ahLst/>
              <a:cxnLst/>
              <a:rect l="l" t="t" r="r" b="b"/>
              <a:pathLst>
                <a:path w="496316" h="496316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03606" y="0"/>
                  </a:lnTo>
                  <a:cubicBezTo>
                    <a:pt x="454787" y="0"/>
                    <a:pt x="496316" y="41529"/>
                    <a:pt x="496316" y="92710"/>
                  </a:cubicBezTo>
                  <a:lnTo>
                    <a:pt x="496316" y="403606"/>
                  </a:lnTo>
                  <a:cubicBezTo>
                    <a:pt x="496316" y="454787"/>
                    <a:pt x="454787" y="496316"/>
                    <a:pt x="403606" y="496316"/>
                  </a:cubicBezTo>
                  <a:lnTo>
                    <a:pt x="92710" y="496316"/>
                  </a:lnTo>
                  <a:cubicBezTo>
                    <a:pt x="41529" y="496316"/>
                    <a:pt x="0" y="454787"/>
                    <a:pt x="0" y="40360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9076277" y="4952924"/>
            <a:ext cx="241840" cy="302266"/>
            <a:chOff x="0" y="0"/>
            <a:chExt cx="322453" cy="40302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22452" cy="403026"/>
            </a:xfrm>
            <a:custGeom>
              <a:avLst/>
              <a:gdLst/>
              <a:ahLst/>
              <a:cxnLst/>
              <a:rect l="l" t="t" r="r" b="b"/>
              <a:pathLst>
                <a:path w="322452" h="403026">
                  <a:moveTo>
                    <a:pt x="0" y="0"/>
                  </a:moveTo>
                  <a:lnTo>
                    <a:pt x="322452" y="0"/>
                  </a:lnTo>
                  <a:lnTo>
                    <a:pt x="322452" y="403026"/>
                  </a:lnTo>
                  <a:lnTo>
                    <a:pt x="0" y="403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2" r="-110362" b="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322453" cy="412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483385" y="4959106"/>
            <a:ext cx="7821320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SQL Safety Validation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83385" y="5315693"/>
            <a:ext cx="7821320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Validate every generated query before execution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9011164" y="5752357"/>
            <a:ext cx="372208" cy="372218"/>
            <a:chOff x="0" y="0"/>
            <a:chExt cx="496278" cy="49629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96316" cy="496316"/>
            </a:xfrm>
            <a:custGeom>
              <a:avLst/>
              <a:gdLst/>
              <a:ahLst/>
              <a:cxnLst/>
              <a:rect l="l" t="t" r="r" b="b"/>
              <a:pathLst>
                <a:path w="496316" h="496316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03606" y="0"/>
                  </a:lnTo>
                  <a:cubicBezTo>
                    <a:pt x="454787" y="0"/>
                    <a:pt x="496316" y="41529"/>
                    <a:pt x="496316" y="92710"/>
                  </a:cubicBezTo>
                  <a:lnTo>
                    <a:pt x="496316" y="403606"/>
                  </a:lnTo>
                  <a:cubicBezTo>
                    <a:pt x="496316" y="454787"/>
                    <a:pt x="454787" y="496316"/>
                    <a:pt x="403606" y="496316"/>
                  </a:cubicBezTo>
                  <a:lnTo>
                    <a:pt x="92710" y="496316"/>
                  </a:lnTo>
                  <a:cubicBezTo>
                    <a:pt x="41529" y="496316"/>
                    <a:pt x="0" y="454787"/>
                    <a:pt x="0" y="40360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9076277" y="5787257"/>
            <a:ext cx="241840" cy="302266"/>
            <a:chOff x="0" y="0"/>
            <a:chExt cx="322453" cy="40302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22452" cy="403026"/>
            </a:xfrm>
            <a:custGeom>
              <a:avLst/>
              <a:gdLst/>
              <a:ahLst/>
              <a:cxnLst/>
              <a:rect l="l" t="t" r="r" b="b"/>
              <a:pathLst>
                <a:path w="322452" h="403026">
                  <a:moveTo>
                    <a:pt x="0" y="0"/>
                  </a:moveTo>
                  <a:lnTo>
                    <a:pt x="322452" y="0"/>
                  </a:lnTo>
                  <a:lnTo>
                    <a:pt x="322452" y="403026"/>
                  </a:lnTo>
                  <a:lnTo>
                    <a:pt x="0" y="403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2" r="-110362" b="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322453" cy="412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5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9483385" y="5793429"/>
            <a:ext cx="7821320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Dataset Isolation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483385" y="6150026"/>
            <a:ext cx="7821320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Restrict all queries to the user-selected dataset only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011164" y="6586690"/>
            <a:ext cx="372208" cy="372218"/>
            <a:chOff x="0" y="0"/>
            <a:chExt cx="496278" cy="49629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96316" cy="496316"/>
            </a:xfrm>
            <a:custGeom>
              <a:avLst/>
              <a:gdLst/>
              <a:ahLst/>
              <a:cxnLst/>
              <a:rect l="l" t="t" r="r" b="b"/>
              <a:pathLst>
                <a:path w="496316" h="496316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03606" y="0"/>
                  </a:lnTo>
                  <a:cubicBezTo>
                    <a:pt x="454787" y="0"/>
                    <a:pt x="496316" y="41529"/>
                    <a:pt x="496316" y="92710"/>
                  </a:cubicBezTo>
                  <a:lnTo>
                    <a:pt x="496316" y="403606"/>
                  </a:lnTo>
                  <a:cubicBezTo>
                    <a:pt x="496316" y="454787"/>
                    <a:pt x="454787" y="496316"/>
                    <a:pt x="403606" y="496316"/>
                  </a:cubicBezTo>
                  <a:lnTo>
                    <a:pt x="92710" y="496316"/>
                  </a:lnTo>
                  <a:cubicBezTo>
                    <a:pt x="41529" y="496316"/>
                    <a:pt x="0" y="454787"/>
                    <a:pt x="0" y="40360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9076277" y="6621590"/>
            <a:ext cx="241840" cy="302266"/>
            <a:chOff x="0" y="0"/>
            <a:chExt cx="322453" cy="40302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22452" cy="403026"/>
            </a:xfrm>
            <a:custGeom>
              <a:avLst/>
              <a:gdLst/>
              <a:ahLst/>
              <a:cxnLst/>
              <a:rect l="l" t="t" r="r" b="b"/>
              <a:pathLst>
                <a:path w="322452" h="403026">
                  <a:moveTo>
                    <a:pt x="0" y="0"/>
                  </a:moveTo>
                  <a:lnTo>
                    <a:pt x="322452" y="0"/>
                  </a:lnTo>
                  <a:lnTo>
                    <a:pt x="322452" y="403026"/>
                  </a:lnTo>
                  <a:lnTo>
                    <a:pt x="0" y="403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2" r="-110362" b="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322453" cy="412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6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9483385" y="6627762"/>
            <a:ext cx="7821320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RAG Knowledge Retrieval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483385" y="6984359"/>
            <a:ext cx="7821320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Retrieve relevant HR knowledge for complex query context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011164" y="7421013"/>
            <a:ext cx="372208" cy="372218"/>
            <a:chOff x="0" y="0"/>
            <a:chExt cx="496278" cy="49629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96316" cy="496316"/>
            </a:xfrm>
            <a:custGeom>
              <a:avLst/>
              <a:gdLst/>
              <a:ahLst/>
              <a:cxnLst/>
              <a:rect l="l" t="t" r="r" b="b"/>
              <a:pathLst>
                <a:path w="496316" h="496316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03606" y="0"/>
                  </a:lnTo>
                  <a:cubicBezTo>
                    <a:pt x="454787" y="0"/>
                    <a:pt x="496316" y="41529"/>
                    <a:pt x="496316" y="92710"/>
                  </a:cubicBezTo>
                  <a:lnTo>
                    <a:pt x="496316" y="403606"/>
                  </a:lnTo>
                  <a:cubicBezTo>
                    <a:pt x="496316" y="454787"/>
                    <a:pt x="454787" y="496316"/>
                    <a:pt x="403606" y="496316"/>
                  </a:cubicBezTo>
                  <a:lnTo>
                    <a:pt x="92710" y="496316"/>
                  </a:lnTo>
                  <a:cubicBezTo>
                    <a:pt x="41529" y="496316"/>
                    <a:pt x="0" y="454787"/>
                    <a:pt x="0" y="40360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9076277" y="7455913"/>
            <a:ext cx="241840" cy="302266"/>
            <a:chOff x="0" y="0"/>
            <a:chExt cx="322453" cy="40302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22452" cy="403026"/>
            </a:xfrm>
            <a:custGeom>
              <a:avLst/>
              <a:gdLst/>
              <a:ahLst/>
              <a:cxnLst/>
              <a:rect l="l" t="t" r="r" b="b"/>
              <a:pathLst>
                <a:path w="322452" h="403026">
                  <a:moveTo>
                    <a:pt x="0" y="0"/>
                  </a:moveTo>
                  <a:lnTo>
                    <a:pt x="322452" y="0"/>
                  </a:lnTo>
                  <a:lnTo>
                    <a:pt x="322452" y="403026"/>
                  </a:lnTo>
                  <a:lnTo>
                    <a:pt x="0" y="403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2" r="-110362" b="1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322453" cy="412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7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9483385" y="7462095"/>
            <a:ext cx="7821320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Local AI Model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483385" y="7818682"/>
            <a:ext cx="7821320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 Ollama + Gemma 3:4B for on-premise query generation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9011164" y="8255346"/>
            <a:ext cx="372208" cy="372218"/>
            <a:chOff x="0" y="0"/>
            <a:chExt cx="496278" cy="49629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96316" cy="496316"/>
            </a:xfrm>
            <a:custGeom>
              <a:avLst/>
              <a:gdLst/>
              <a:ahLst/>
              <a:cxnLst/>
              <a:rect l="l" t="t" r="r" b="b"/>
              <a:pathLst>
                <a:path w="496316" h="496316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403606" y="0"/>
                  </a:lnTo>
                  <a:cubicBezTo>
                    <a:pt x="454787" y="0"/>
                    <a:pt x="496316" y="41529"/>
                    <a:pt x="496316" y="92710"/>
                  </a:cubicBezTo>
                  <a:lnTo>
                    <a:pt x="496316" y="403606"/>
                  </a:lnTo>
                  <a:cubicBezTo>
                    <a:pt x="496316" y="454787"/>
                    <a:pt x="454787" y="496316"/>
                    <a:pt x="403606" y="496316"/>
                  </a:cubicBezTo>
                  <a:lnTo>
                    <a:pt x="92710" y="496316"/>
                  </a:lnTo>
                  <a:cubicBezTo>
                    <a:pt x="41529" y="496316"/>
                    <a:pt x="0" y="454787"/>
                    <a:pt x="0" y="40360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9076277" y="8290246"/>
            <a:ext cx="241840" cy="302266"/>
            <a:chOff x="0" y="0"/>
            <a:chExt cx="322453" cy="40302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22452" cy="403026"/>
            </a:xfrm>
            <a:custGeom>
              <a:avLst/>
              <a:gdLst/>
              <a:ahLst/>
              <a:cxnLst/>
              <a:rect l="l" t="t" r="r" b="b"/>
              <a:pathLst>
                <a:path w="322452" h="403026">
                  <a:moveTo>
                    <a:pt x="0" y="0"/>
                  </a:moveTo>
                  <a:lnTo>
                    <a:pt x="322452" y="0"/>
                  </a:lnTo>
                  <a:lnTo>
                    <a:pt x="322452" y="403026"/>
                  </a:lnTo>
                  <a:lnTo>
                    <a:pt x="0" y="403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2" r="-110362" b="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322453" cy="4125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8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9483385" y="8296427"/>
            <a:ext cx="7821320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React Dashboard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483385" y="8653015"/>
            <a:ext cx="7821320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Display results in an interactive, user-friendly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3103512"/>
            <a:ext cx="8836743" cy="1184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HR Knowledge 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672856"/>
            <a:ext cx="16303114" cy="39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HR Data &amp; Dataset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1165460"/>
            <a:ext cx="8836743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Employee Information Tracked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7447" y="1456287"/>
            <a:ext cx="6715068" cy="646509"/>
            <a:chOff x="0" y="0"/>
            <a:chExt cx="8953424" cy="8620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53373" cy="862076"/>
            </a:xfrm>
            <a:custGeom>
              <a:avLst/>
              <a:gdLst/>
              <a:ahLst/>
              <a:cxnLst/>
              <a:rect l="l" t="t" r="r" b="b"/>
              <a:pathLst>
                <a:path w="8953373" h="862076">
                  <a:moveTo>
                    <a:pt x="0" y="67310"/>
                  </a:moveTo>
                  <a:cubicBezTo>
                    <a:pt x="0" y="30099"/>
                    <a:pt x="30099" y="0"/>
                    <a:pt x="67310" y="0"/>
                  </a:cubicBezTo>
                  <a:lnTo>
                    <a:pt x="8886063" y="0"/>
                  </a:lnTo>
                  <a:cubicBezTo>
                    <a:pt x="8923274" y="0"/>
                    <a:pt x="8953373" y="30099"/>
                    <a:pt x="8953373" y="67310"/>
                  </a:cubicBezTo>
                  <a:lnTo>
                    <a:pt x="8953373" y="794766"/>
                  </a:lnTo>
                  <a:cubicBezTo>
                    <a:pt x="8953373" y="831977"/>
                    <a:pt x="8923274" y="862076"/>
                    <a:pt x="8886063" y="862076"/>
                  </a:cubicBezTo>
                  <a:lnTo>
                    <a:pt x="67310" y="862076"/>
                  </a:lnTo>
                  <a:cubicBezTo>
                    <a:pt x="30099" y="862076"/>
                    <a:pt x="0" y="831977"/>
                    <a:pt x="0" y="79476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20054" y="1541850"/>
            <a:ext cx="4134488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Identity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0054" y="1844288"/>
            <a:ext cx="4134488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Employee ID, First Name, Last Name, Email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87447" y="2205657"/>
            <a:ext cx="6715068" cy="646509"/>
            <a:chOff x="0" y="0"/>
            <a:chExt cx="8953424" cy="8620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953373" cy="862076"/>
            </a:xfrm>
            <a:custGeom>
              <a:avLst/>
              <a:gdLst/>
              <a:ahLst/>
              <a:cxnLst/>
              <a:rect l="l" t="t" r="r" b="b"/>
              <a:pathLst>
                <a:path w="8953373" h="862076">
                  <a:moveTo>
                    <a:pt x="0" y="67310"/>
                  </a:moveTo>
                  <a:cubicBezTo>
                    <a:pt x="0" y="30099"/>
                    <a:pt x="30099" y="0"/>
                    <a:pt x="67310" y="0"/>
                  </a:cubicBezTo>
                  <a:lnTo>
                    <a:pt x="8886063" y="0"/>
                  </a:lnTo>
                  <a:cubicBezTo>
                    <a:pt x="8923274" y="0"/>
                    <a:pt x="8953373" y="30099"/>
                    <a:pt x="8953373" y="67310"/>
                  </a:cubicBezTo>
                  <a:lnTo>
                    <a:pt x="8953373" y="794766"/>
                  </a:lnTo>
                  <a:cubicBezTo>
                    <a:pt x="8953373" y="831977"/>
                    <a:pt x="8923274" y="862076"/>
                    <a:pt x="8886063" y="862076"/>
                  </a:cubicBezTo>
                  <a:lnTo>
                    <a:pt x="67310" y="862076"/>
                  </a:lnTo>
                  <a:cubicBezTo>
                    <a:pt x="30099" y="862076"/>
                    <a:pt x="0" y="831977"/>
                    <a:pt x="0" y="79476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120054" y="2263226"/>
            <a:ext cx="8581063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Temporal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0054" y="2523677"/>
            <a:ext cx="8581063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Hire Date, Effective Start Date, Effective End Date, Dataset ID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10" y="3103512"/>
            <a:ext cx="8836743" cy="1184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Department Table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27199" y="1193454"/>
            <a:ext cx="7177507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Test Dataset Statistics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27199" y="1453906"/>
            <a:ext cx="8091878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hr_employee_dataset_250_unique</a:t>
            </a: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Dataset ID: 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83280" y="1764059"/>
            <a:ext cx="4665345" cy="34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30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250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27199" y="2189559"/>
            <a:ext cx="7177507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Total Employees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27199" y="2450011"/>
            <a:ext cx="7177507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Primary test dataset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83280" y="2809580"/>
            <a:ext cx="4665345" cy="34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30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165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27199" y="3235081"/>
            <a:ext cx="7177507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Active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27199" y="3495523"/>
            <a:ext cx="7177507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Currently employed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83280" y="3855091"/>
            <a:ext cx="4665345" cy="34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30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50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27199" y="4280592"/>
            <a:ext cx="7177507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Inactive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27199" y="4541044"/>
            <a:ext cx="7177507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Separated / exited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83280" y="4900613"/>
            <a:ext cx="4665345" cy="34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30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27199" y="5326113"/>
            <a:ext cx="7177507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On Leave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27199" y="5586565"/>
            <a:ext cx="7177507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Temporarily absent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466114" y="3477387"/>
            <a:ext cx="5322189" cy="4049020"/>
            <a:chOff x="0" y="0"/>
            <a:chExt cx="7096252" cy="5398694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7096252" cy="5398643"/>
            </a:xfrm>
            <a:custGeom>
              <a:avLst/>
              <a:gdLst/>
              <a:ahLst/>
              <a:cxnLst/>
              <a:rect l="l" t="t" r="r" b="b"/>
              <a:pathLst>
                <a:path w="7096252" h="5398643">
                  <a:moveTo>
                    <a:pt x="0" y="0"/>
                  </a:moveTo>
                  <a:lnTo>
                    <a:pt x="7096252" y="0"/>
                  </a:lnTo>
                  <a:lnTo>
                    <a:pt x="7096252" y="5398643"/>
                  </a:lnTo>
                  <a:lnTo>
                    <a:pt x="0" y="5398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5" r="-105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7022211" y="7628506"/>
            <a:ext cx="8091878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Additionally tested with datasets of </a:t>
            </a:r>
            <a:r>
              <a:rPr lang="en-US" sz="9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100</a:t>
            </a: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9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250</a:t>
            </a: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employee records for multi-dataset validation.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8532" y="2936662"/>
            <a:ext cx="6723983" cy="646509"/>
            <a:chOff x="0" y="0"/>
            <a:chExt cx="8965311" cy="8620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965311" cy="862076"/>
            </a:xfrm>
            <a:custGeom>
              <a:avLst/>
              <a:gdLst/>
              <a:ahLst/>
              <a:cxnLst/>
              <a:rect l="l" t="t" r="r" b="b"/>
              <a:pathLst>
                <a:path w="8965311" h="862076">
                  <a:moveTo>
                    <a:pt x="0" y="67310"/>
                  </a:moveTo>
                  <a:cubicBezTo>
                    <a:pt x="0" y="30099"/>
                    <a:pt x="30099" y="0"/>
                    <a:pt x="67310" y="0"/>
                  </a:cubicBezTo>
                  <a:lnTo>
                    <a:pt x="8898001" y="0"/>
                  </a:lnTo>
                  <a:cubicBezTo>
                    <a:pt x="8935212" y="0"/>
                    <a:pt x="8965311" y="30099"/>
                    <a:pt x="8965311" y="67310"/>
                  </a:cubicBezTo>
                  <a:lnTo>
                    <a:pt x="8965311" y="794766"/>
                  </a:lnTo>
                  <a:cubicBezTo>
                    <a:pt x="8965311" y="831977"/>
                    <a:pt x="8935212" y="862076"/>
                    <a:pt x="8898001" y="862076"/>
                  </a:cubicBezTo>
                  <a:lnTo>
                    <a:pt x="67310" y="862076"/>
                  </a:lnTo>
                  <a:cubicBezTo>
                    <a:pt x="30099" y="862076"/>
                    <a:pt x="0" y="831977"/>
                    <a:pt x="0" y="79476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1111129" y="2970162"/>
            <a:ext cx="4134488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Role &amp; Status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4235" y="3289092"/>
            <a:ext cx="75609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5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Department, Job Title, Employee Status (Active / Inactive / On Leave)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693096"/>
            <a:ext cx="16303114" cy="40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System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117702"/>
            <a:ext cx="16303114" cy="20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Complete Processing Pipeline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968898" y="1416253"/>
            <a:ext cx="6349746" cy="6349756"/>
            <a:chOff x="0" y="0"/>
            <a:chExt cx="8466328" cy="8466341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466328" cy="8466328"/>
            </a:xfrm>
            <a:custGeom>
              <a:avLst/>
              <a:gdLst/>
              <a:ahLst/>
              <a:cxnLst/>
              <a:rect l="l" t="t" r="r" b="b"/>
              <a:pathLst>
                <a:path w="8466328" h="8466328">
                  <a:moveTo>
                    <a:pt x="0" y="0"/>
                  </a:moveTo>
                  <a:lnTo>
                    <a:pt x="8466328" y="0"/>
                  </a:lnTo>
                  <a:lnTo>
                    <a:pt x="8466328" y="8466328"/>
                  </a:lnTo>
                  <a:lnTo>
                    <a:pt x="0" y="8466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6585652" y="2540718"/>
            <a:ext cx="2045970" cy="34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Frontend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85652" y="3000613"/>
            <a:ext cx="2045970" cy="55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4"/>
              </a:lnSpc>
            </a:pPr>
            <a:r>
              <a:rPr lang="en-US" sz="15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React app for user interaction and dashboard.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66903" y="2540718"/>
            <a:ext cx="2045970" cy="34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66903" y="3000613"/>
            <a:ext cx="2045970" cy="55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4"/>
              </a:lnSpc>
            </a:pPr>
            <a:r>
              <a:rPr lang="en-US" sz="15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Django REST handles auth and dataset selection.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85833" y="5621865"/>
            <a:ext cx="2045970" cy="34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Query Engine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5833" y="6081760"/>
            <a:ext cx="2045970" cy="550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4"/>
              </a:lnSpc>
            </a:pPr>
            <a:r>
              <a:rPr lang="en-US" sz="15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Processes queries then routes to builder or RAG.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66903" y="5621865"/>
            <a:ext cx="2045970" cy="34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Storage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66903" y="6081760"/>
            <a:ext cx="2045970" cy="550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4"/>
              </a:lnSpc>
            </a:pPr>
            <a:r>
              <a:rPr lang="en-US" sz="15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SQL validated queries stored in MySQL database.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10" y="7889672"/>
            <a:ext cx="7999314" cy="20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RAG Knowledge Sources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82685" y="8155191"/>
            <a:ext cx="3987308" cy="456600"/>
            <a:chOff x="0" y="0"/>
            <a:chExt cx="5316410" cy="608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16347" cy="608711"/>
            </a:xfrm>
            <a:custGeom>
              <a:avLst/>
              <a:gdLst/>
              <a:ahLst/>
              <a:cxnLst/>
              <a:rect l="l" t="t" r="r" b="b"/>
              <a:pathLst>
                <a:path w="5316347" h="608711">
                  <a:moveTo>
                    <a:pt x="0" y="72898"/>
                  </a:moveTo>
                  <a:cubicBezTo>
                    <a:pt x="0" y="32639"/>
                    <a:pt x="32639" y="0"/>
                    <a:pt x="72898" y="0"/>
                  </a:cubicBezTo>
                  <a:lnTo>
                    <a:pt x="5243449" y="0"/>
                  </a:lnTo>
                  <a:cubicBezTo>
                    <a:pt x="5283708" y="0"/>
                    <a:pt x="5316347" y="32639"/>
                    <a:pt x="5316347" y="72898"/>
                  </a:cubicBezTo>
                  <a:lnTo>
                    <a:pt x="5316347" y="535813"/>
                  </a:lnTo>
                  <a:cubicBezTo>
                    <a:pt x="5316347" y="576072"/>
                    <a:pt x="5283708" y="608711"/>
                    <a:pt x="5243449" y="608711"/>
                  </a:cubicBezTo>
                  <a:lnTo>
                    <a:pt x="72898" y="608711"/>
                  </a:lnTo>
                  <a:cubicBezTo>
                    <a:pt x="32639" y="608838"/>
                    <a:pt x="0" y="576199"/>
                    <a:pt x="0" y="53581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135980" y="8308477"/>
            <a:ext cx="3680727" cy="15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HR Reports</a:t>
            </a:r>
            <a:r>
              <a:rPr lang="en-US" sz="9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Saved reports and business descriptions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013598" y="8155191"/>
            <a:ext cx="3987451" cy="456600"/>
            <a:chOff x="0" y="0"/>
            <a:chExt cx="5316601" cy="608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16601" cy="608711"/>
            </a:xfrm>
            <a:custGeom>
              <a:avLst/>
              <a:gdLst/>
              <a:ahLst/>
              <a:cxnLst/>
              <a:rect l="l" t="t" r="r" b="b"/>
              <a:pathLst>
                <a:path w="5316601" h="608711">
                  <a:moveTo>
                    <a:pt x="0" y="72898"/>
                  </a:moveTo>
                  <a:cubicBezTo>
                    <a:pt x="0" y="32639"/>
                    <a:pt x="32639" y="0"/>
                    <a:pt x="72898" y="0"/>
                  </a:cubicBezTo>
                  <a:lnTo>
                    <a:pt x="5243703" y="0"/>
                  </a:lnTo>
                  <a:cubicBezTo>
                    <a:pt x="5283962" y="0"/>
                    <a:pt x="5316601" y="32639"/>
                    <a:pt x="5316601" y="72898"/>
                  </a:cubicBezTo>
                  <a:lnTo>
                    <a:pt x="5316601" y="535813"/>
                  </a:lnTo>
                  <a:cubicBezTo>
                    <a:pt x="5316601" y="576072"/>
                    <a:pt x="5283962" y="608711"/>
                    <a:pt x="5243703" y="608711"/>
                  </a:cubicBezTo>
                  <a:lnTo>
                    <a:pt x="72898" y="608711"/>
                  </a:lnTo>
                  <a:cubicBezTo>
                    <a:pt x="32639" y="608838"/>
                    <a:pt x="0" y="576199"/>
                    <a:pt x="0" y="53581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5166884" y="8308477"/>
            <a:ext cx="3680870" cy="15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Business Rules</a:t>
            </a:r>
            <a:r>
              <a:rPr lang="en-US" sz="9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Effective dating, status conditions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82685" y="8655396"/>
            <a:ext cx="8018364" cy="456600"/>
            <a:chOff x="0" y="0"/>
            <a:chExt cx="10691152" cy="608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91114" cy="608711"/>
            </a:xfrm>
            <a:custGeom>
              <a:avLst/>
              <a:gdLst/>
              <a:ahLst/>
              <a:cxnLst/>
              <a:rect l="l" t="t" r="r" b="b"/>
              <a:pathLst>
                <a:path w="10691114" h="608711">
                  <a:moveTo>
                    <a:pt x="0" y="72898"/>
                  </a:moveTo>
                  <a:cubicBezTo>
                    <a:pt x="0" y="32639"/>
                    <a:pt x="32639" y="0"/>
                    <a:pt x="72898" y="0"/>
                  </a:cubicBezTo>
                  <a:lnTo>
                    <a:pt x="10618216" y="0"/>
                  </a:lnTo>
                  <a:cubicBezTo>
                    <a:pt x="10658475" y="0"/>
                    <a:pt x="10691114" y="32639"/>
                    <a:pt x="10691114" y="72898"/>
                  </a:cubicBezTo>
                  <a:lnTo>
                    <a:pt x="10691114" y="535813"/>
                  </a:lnTo>
                  <a:cubicBezTo>
                    <a:pt x="10691114" y="576072"/>
                    <a:pt x="10658475" y="608711"/>
                    <a:pt x="10618216" y="608711"/>
                  </a:cubicBezTo>
                  <a:lnTo>
                    <a:pt x="72898" y="608711"/>
                  </a:lnTo>
                  <a:cubicBezTo>
                    <a:pt x="32639" y="608838"/>
                    <a:pt x="0" y="576199"/>
                    <a:pt x="0" y="53581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35980" y="8808691"/>
            <a:ext cx="7711783" cy="15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Security Rules</a:t>
            </a:r>
            <a:r>
              <a:rPr lang="en-US" sz="9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Dataset restrictions, query constraints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05544" y="7889672"/>
            <a:ext cx="7999314" cy="20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Core Database Tables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96019" y="8155191"/>
            <a:ext cx="3987308" cy="606628"/>
            <a:chOff x="0" y="0"/>
            <a:chExt cx="5316410" cy="80883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16347" cy="808863"/>
            </a:xfrm>
            <a:custGeom>
              <a:avLst/>
              <a:gdLst/>
              <a:ahLst/>
              <a:cxnLst/>
              <a:rect l="l" t="t" r="r" b="b"/>
              <a:pathLst>
                <a:path w="5316347" h="808863">
                  <a:moveTo>
                    <a:pt x="0" y="72136"/>
                  </a:moveTo>
                  <a:cubicBezTo>
                    <a:pt x="0" y="32258"/>
                    <a:pt x="32258" y="0"/>
                    <a:pt x="72136" y="0"/>
                  </a:cubicBezTo>
                  <a:lnTo>
                    <a:pt x="5244211" y="0"/>
                  </a:lnTo>
                  <a:cubicBezTo>
                    <a:pt x="5284089" y="0"/>
                    <a:pt x="5316347" y="32258"/>
                    <a:pt x="5316347" y="72136"/>
                  </a:cubicBezTo>
                  <a:lnTo>
                    <a:pt x="5316347" y="736727"/>
                  </a:lnTo>
                  <a:cubicBezTo>
                    <a:pt x="5316347" y="776605"/>
                    <a:pt x="5284089" y="808863"/>
                    <a:pt x="5244211" y="808863"/>
                  </a:cubicBezTo>
                  <a:lnTo>
                    <a:pt x="72136" y="808863"/>
                  </a:lnTo>
                  <a:cubicBezTo>
                    <a:pt x="32258" y="808863"/>
                    <a:pt x="0" y="776478"/>
                    <a:pt x="0" y="7367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9449305" y="8308477"/>
            <a:ext cx="3680727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reports_employee</a:t>
            </a:r>
            <a:r>
              <a:rPr lang="en-US" sz="9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Employee records with all attributes including dataset_id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3326923" y="8155191"/>
            <a:ext cx="3987451" cy="606628"/>
            <a:chOff x="0" y="0"/>
            <a:chExt cx="5316601" cy="80883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316601" cy="808863"/>
            </a:xfrm>
            <a:custGeom>
              <a:avLst/>
              <a:gdLst/>
              <a:ahLst/>
              <a:cxnLst/>
              <a:rect l="l" t="t" r="r" b="b"/>
              <a:pathLst>
                <a:path w="5316601" h="808863">
                  <a:moveTo>
                    <a:pt x="0" y="72136"/>
                  </a:moveTo>
                  <a:cubicBezTo>
                    <a:pt x="0" y="32258"/>
                    <a:pt x="32258" y="0"/>
                    <a:pt x="72136" y="0"/>
                  </a:cubicBezTo>
                  <a:lnTo>
                    <a:pt x="5244465" y="0"/>
                  </a:lnTo>
                  <a:cubicBezTo>
                    <a:pt x="5284343" y="0"/>
                    <a:pt x="5316601" y="32258"/>
                    <a:pt x="5316601" y="72136"/>
                  </a:cubicBezTo>
                  <a:lnTo>
                    <a:pt x="5316601" y="736727"/>
                  </a:lnTo>
                  <a:cubicBezTo>
                    <a:pt x="5316601" y="776605"/>
                    <a:pt x="5284343" y="808863"/>
                    <a:pt x="5244465" y="808863"/>
                  </a:cubicBezTo>
                  <a:lnTo>
                    <a:pt x="72136" y="808863"/>
                  </a:lnTo>
                  <a:cubicBezTo>
                    <a:pt x="32258" y="808863"/>
                    <a:pt x="0" y="776478"/>
                    <a:pt x="0" y="7367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3480218" y="8308477"/>
            <a:ext cx="3680870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reports_department</a:t>
            </a:r>
            <a:r>
              <a:rPr lang="en-US" sz="975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Department names and descriptions joined on department_id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92210" y="9243565"/>
            <a:ext cx="16303114" cy="331289"/>
            <a:chOff x="0" y="0"/>
            <a:chExt cx="21737485" cy="44171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737447" cy="441706"/>
            </a:xfrm>
            <a:custGeom>
              <a:avLst/>
              <a:gdLst/>
              <a:ahLst/>
              <a:cxnLst/>
              <a:rect l="l" t="t" r="r" b="b"/>
              <a:pathLst>
                <a:path w="21737447" h="441706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21667597" y="0"/>
                  </a:lnTo>
                  <a:cubicBezTo>
                    <a:pt x="21706205" y="0"/>
                    <a:pt x="21737447" y="31242"/>
                    <a:pt x="21737447" y="69850"/>
                  </a:cubicBezTo>
                  <a:lnTo>
                    <a:pt x="21737447" y="371856"/>
                  </a:lnTo>
                  <a:cubicBezTo>
                    <a:pt x="21737447" y="410464"/>
                    <a:pt x="21706205" y="441706"/>
                    <a:pt x="21667597" y="441706"/>
                  </a:cubicBezTo>
                  <a:lnTo>
                    <a:pt x="69850" y="441706"/>
                  </a:lnTo>
                  <a:cubicBezTo>
                    <a:pt x="31242" y="441706"/>
                    <a:pt x="0" y="410464"/>
                    <a:pt x="0" y="371856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116930" y="9337329"/>
            <a:ext cx="155972" cy="124720"/>
            <a:chOff x="0" y="0"/>
            <a:chExt cx="207962" cy="166294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207899" cy="166243"/>
            </a:xfrm>
            <a:custGeom>
              <a:avLst/>
              <a:gdLst/>
              <a:ahLst/>
              <a:cxnLst/>
              <a:rect l="l" t="t" r="r" b="b"/>
              <a:pathLst>
                <a:path w="207899" h="166243">
                  <a:moveTo>
                    <a:pt x="0" y="0"/>
                  </a:moveTo>
                  <a:lnTo>
                    <a:pt x="207899" y="0"/>
                  </a:lnTo>
                  <a:lnTo>
                    <a:pt x="207899" y="166243"/>
                  </a:lnTo>
                  <a:lnTo>
                    <a:pt x="0" y="166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97" r="-30" b="-1520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1397613" y="9337329"/>
            <a:ext cx="16687381" cy="15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Key Design Decision:</a:t>
            </a:r>
            <a:r>
              <a:rPr lang="en-US" sz="9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Not all questions route to the AI model. Common HR queries use the deterministic </a:t>
            </a:r>
            <a:r>
              <a:rPr lang="en-US" sz="97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Fast SQL Builder</a:t>
            </a:r>
            <a:r>
              <a:rPr lang="en-US" sz="9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for faster, predictable, and fully controlled execution — AI is only invoked for complex, multi-condition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321594"/>
            <a:ext cx="16303114" cy="639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Natural Language → HR Answer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2005165"/>
            <a:ext cx="16303114" cy="3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Complete AI Workflow — Step by Step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10" y="2572350"/>
            <a:ext cx="396916" cy="247945"/>
            <a:chOff x="0" y="0"/>
            <a:chExt cx="529222" cy="3305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9220" cy="330596"/>
            </a:xfrm>
            <a:custGeom>
              <a:avLst/>
              <a:gdLst/>
              <a:ahLst/>
              <a:cxnLst/>
              <a:rect l="l" t="t" r="r" b="b"/>
              <a:pathLst>
                <a:path w="529220" h="330596">
                  <a:moveTo>
                    <a:pt x="0" y="0"/>
                  </a:moveTo>
                  <a:lnTo>
                    <a:pt x="529220" y="0"/>
                  </a:lnTo>
                  <a:lnTo>
                    <a:pt x="529220" y="330596"/>
                  </a:lnTo>
                  <a:lnTo>
                    <a:pt x="0" y="330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48" r="-3014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529222" cy="340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10" y="2880865"/>
            <a:ext cx="8072237" cy="28575"/>
            <a:chOff x="0" y="0"/>
            <a:chExt cx="10762983" cy="38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62996" cy="38100"/>
            </a:xfrm>
            <a:custGeom>
              <a:avLst/>
              <a:gdLst/>
              <a:ahLst/>
              <a:cxnLst/>
              <a:rect l="l" t="t" r="r" b="b"/>
              <a:pathLst>
                <a:path w="10762996" h="38100">
                  <a:moveTo>
                    <a:pt x="0" y="0"/>
                  </a:moveTo>
                  <a:lnTo>
                    <a:pt x="10762996" y="0"/>
                  </a:lnTo>
                  <a:lnTo>
                    <a:pt x="1076299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92210" y="3018082"/>
            <a:ext cx="8072237" cy="3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 Input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10" y="3394767"/>
            <a:ext cx="807223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User enters natural-language question: </a:t>
            </a:r>
            <a:r>
              <a:rPr lang="en-US" sz="1500" i="1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"How many Software Developers in the IT department were hired between 2018-01-01 and 2020-12-31?"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23096" y="2572350"/>
            <a:ext cx="396916" cy="247945"/>
            <a:chOff x="0" y="0"/>
            <a:chExt cx="529222" cy="3305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9220" cy="330596"/>
            </a:xfrm>
            <a:custGeom>
              <a:avLst/>
              <a:gdLst/>
              <a:ahLst/>
              <a:cxnLst/>
              <a:rect l="l" t="t" r="r" b="b"/>
              <a:pathLst>
                <a:path w="529220" h="330596">
                  <a:moveTo>
                    <a:pt x="0" y="0"/>
                  </a:moveTo>
                  <a:lnTo>
                    <a:pt x="529220" y="0"/>
                  </a:lnTo>
                  <a:lnTo>
                    <a:pt x="529220" y="330596"/>
                  </a:lnTo>
                  <a:lnTo>
                    <a:pt x="0" y="330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48" r="-3014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29222" cy="340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23096" y="2880865"/>
            <a:ext cx="8072237" cy="28575"/>
            <a:chOff x="0" y="0"/>
            <a:chExt cx="10762983" cy="38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62996" cy="38100"/>
            </a:xfrm>
            <a:custGeom>
              <a:avLst/>
              <a:gdLst/>
              <a:ahLst/>
              <a:cxnLst/>
              <a:rect l="l" t="t" r="r" b="b"/>
              <a:pathLst>
                <a:path w="10762996" h="38100">
                  <a:moveTo>
                    <a:pt x="0" y="0"/>
                  </a:moveTo>
                  <a:lnTo>
                    <a:pt x="10762996" y="0"/>
                  </a:lnTo>
                  <a:lnTo>
                    <a:pt x="1076299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223096" y="3018082"/>
            <a:ext cx="8072237" cy="3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Normalization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23096" y="3394767"/>
            <a:ext cx="8072237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System cleans, normalizes, and prepares the question text for intent extraction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92210" y="4321378"/>
            <a:ext cx="396916" cy="247945"/>
            <a:chOff x="0" y="0"/>
            <a:chExt cx="529222" cy="3305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29220" cy="330596"/>
            </a:xfrm>
            <a:custGeom>
              <a:avLst/>
              <a:gdLst/>
              <a:ahLst/>
              <a:cxnLst/>
              <a:rect l="l" t="t" r="r" b="b"/>
              <a:pathLst>
                <a:path w="529220" h="330596">
                  <a:moveTo>
                    <a:pt x="0" y="0"/>
                  </a:moveTo>
                  <a:lnTo>
                    <a:pt x="529220" y="0"/>
                  </a:lnTo>
                  <a:lnTo>
                    <a:pt x="529220" y="330596"/>
                  </a:lnTo>
                  <a:lnTo>
                    <a:pt x="0" y="330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48" r="-3014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529222" cy="340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2210" y="4629893"/>
            <a:ext cx="8072237" cy="28575"/>
            <a:chOff x="0" y="0"/>
            <a:chExt cx="10762983" cy="381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762996" cy="38100"/>
            </a:xfrm>
            <a:custGeom>
              <a:avLst/>
              <a:gdLst/>
              <a:ahLst/>
              <a:cxnLst/>
              <a:rect l="l" t="t" r="r" b="b"/>
              <a:pathLst>
                <a:path w="10762996" h="38100">
                  <a:moveTo>
                    <a:pt x="0" y="0"/>
                  </a:moveTo>
                  <a:lnTo>
                    <a:pt x="10762996" y="0"/>
                  </a:lnTo>
                  <a:lnTo>
                    <a:pt x="1076299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92210" y="4767110"/>
            <a:ext cx="8072237" cy="3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Condition Extraction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210" y="5143795"/>
            <a:ext cx="807223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Identifies: Department = IT · Job Title = Software Developer · Hire Date Range: 2018-01-01 → 2020-12-31 · Status and Historical Date (if specified)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23096" y="4321378"/>
            <a:ext cx="396916" cy="247945"/>
            <a:chOff x="0" y="0"/>
            <a:chExt cx="529222" cy="33059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29220" cy="330596"/>
            </a:xfrm>
            <a:custGeom>
              <a:avLst/>
              <a:gdLst/>
              <a:ahLst/>
              <a:cxnLst/>
              <a:rect l="l" t="t" r="r" b="b"/>
              <a:pathLst>
                <a:path w="529220" h="330596">
                  <a:moveTo>
                    <a:pt x="0" y="0"/>
                  </a:moveTo>
                  <a:lnTo>
                    <a:pt x="529220" y="0"/>
                  </a:lnTo>
                  <a:lnTo>
                    <a:pt x="529220" y="330596"/>
                  </a:lnTo>
                  <a:lnTo>
                    <a:pt x="0" y="330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48" r="-3014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529222" cy="340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04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23096" y="4629893"/>
            <a:ext cx="8072237" cy="28575"/>
            <a:chOff x="0" y="0"/>
            <a:chExt cx="10762983" cy="381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62996" cy="38100"/>
            </a:xfrm>
            <a:custGeom>
              <a:avLst/>
              <a:gdLst/>
              <a:ahLst/>
              <a:cxnLst/>
              <a:rect l="l" t="t" r="r" b="b"/>
              <a:pathLst>
                <a:path w="10762996" h="38100">
                  <a:moveTo>
                    <a:pt x="0" y="0"/>
                  </a:moveTo>
                  <a:lnTo>
                    <a:pt x="10762996" y="0"/>
                  </a:lnTo>
                  <a:lnTo>
                    <a:pt x="1076299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9223096" y="4767110"/>
            <a:ext cx="8072237" cy="3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Fast SQL Builder Check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23096" y="5143795"/>
            <a:ext cx="807223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Determines if query can be handled by the deterministic Fast SQL Builder directly without involving the AI model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92210" y="6070397"/>
            <a:ext cx="396916" cy="247945"/>
            <a:chOff x="0" y="0"/>
            <a:chExt cx="529222" cy="33059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29220" cy="330596"/>
            </a:xfrm>
            <a:custGeom>
              <a:avLst/>
              <a:gdLst/>
              <a:ahLst/>
              <a:cxnLst/>
              <a:rect l="l" t="t" r="r" b="b"/>
              <a:pathLst>
                <a:path w="529220" h="330596">
                  <a:moveTo>
                    <a:pt x="0" y="0"/>
                  </a:moveTo>
                  <a:lnTo>
                    <a:pt x="529220" y="0"/>
                  </a:lnTo>
                  <a:lnTo>
                    <a:pt x="529220" y="330596"/>
                  </a:lnTo>
                  <a:lnTo>
                    <a:pt x="0" y="330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48" r="-3014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529222" cy="340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05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2210" y="6378921"/>
            <a:ext cx="8072237" cy="28575"/>
            <a:chOff x="0" y="0"/>
            <a:chExt cx="10762983" cy="381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762996" cy="38100"/>
            </a:xfrm>
            <a:custGeom>
              <a:avLst/>
              <a:gdLst/>
              <a:ahLst/>
              <a:cxnLst/>
              <a:rect l="l" t="t" r="r" b="b"/>
              <a:pathLst>
                <a:path w="10762996" h="38100">
                  <a:moveTo>
                    <a:pt x="0" y="0"/>
                  </a:moveTo>
                  <a:lnTo>
                    <a:pt x="10762996" y="0"/>
                  </a:lnTo>
                  <a:lnTo>
                    <a:pt x="1076299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992210" y="6516138"/>
            <a:ext cx="8072237" cy="3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RAG + AI Generation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2210" y="6892823"/>
            <a:ext cx="807223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For complex queries: retrieves relevant HR reports, business rules, and security rules via RAG; </a:t>
            </a:r>
            <a:r>
              <a:rPr lang="en-US" sz="15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Gemma 3:4B</a:t>
            </a: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generates the required SQL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223096" y="6070397"/>
            <a:ext cx="396916" cy="247945"/>
            <a:chOff x="0" y="0"/>
            <a:chExt cx="529222" cy="33059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29220" cy="330596"/>
            </a:xfrm>
            <a:custGeom>
              <a:avLst/>
              <a:gdLst/>
              <a:ahLst/>
              <a:cxnLst/>
              <a:rect l="l" t="t" r="r" b="b"/>
              <a:pathLst>
                <a:path w="529220" h="330596">
                  <a:moveTo>
                    <a:pt x="0" y="0"/>
                  </a:moveTo>
                  <a:lnTo>
                    <a:pt x="529220" y="0"/>
                  </a:lnTo>
                  <a:lnTo>
                    <a:pt x="529220" y="330596"/>
                  </a:lnTo>
                  <a:lnTo>
                    <a:pt x="0" y="3305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48" r="-30148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529222" cy="340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06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223096" y="6378921"/>
            <a:ext cx="8072237" cy="28575"/>
            <a:chOff x="0" y="0"/>
            <a:chExt cx="10762983" cy="381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762996" cy="38100"/>
            </a:xfrm>
            <a:custGeom>
              <a:avLst/>
              <a:gdLst/>
              <a:ahLst/>
              <a:cxnLst/>
              <a:rect l="l" t="t" r="r" b="b"/>
              <a:pathLst>
                <a:path w="10762996" h="38100">
                  <a:moveTo>
                    <a:pt x="0" y="0"/>
                  </a:moveTo>
                  <a:lnTo>
                    <a:pt x="10762996" y="0"/>
                  </a:lnTo>
                  <a:lnTo>
                    <a:pt x="1076299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9223096" y="6516138"/>
            <a:ext cx="8072237" cy="3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SQL Validation &amp; Execution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223096" y="6892823"/>
            <a:ext cx="807223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All generated SQL is validated for safety and dataset security, then executed on MySQL; results returned to the React dashboard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987447" y="7834608"/>
            <a:ext cx="16312639" cy="1116359"/>
            <a:chOff x="0" y="0"/>
            <a:chExt cx="21750185" cy="148847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750274" cy="1488567"/>
            </a:xfrm>
            <a:custGeom>
              <a:avLst/>
              <a:gdLst/>
              <a:ahLst/>
              <a:cxnLst/>
              <a:rect l="l" t="t" r="r" b="b"/>
              <a:pathLst>
                <a:path w="21750274" h="1488567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1638133" y="0"/>
                  </a:lnTo>
                  <a:cubicBezTo>
                    <a:pt x="21699982" y="0"/>
                    <a:pt x="21750274" y="50165"/>
                    <a:pt x="21750274" y="112141"/>
                  </a:cubicBezTo>
                  <a:lnTo>
                    <a:pt x="21750274" y="1376426"/>
                  </a:lnTo>
                  <a:cubicBezTo>
                    <a:pt x="21750274" y="1438275"/>
                    <a:pt x="21700110" y="1488567"/>
                    <a:pt x="21638133" y="1488567"/>
                  </a:cubicBezTo>
                  <a:lnTo>
                    <a:pt x="112141" y="1488567"/>
                  </a:lnTo>
                  <a:cubicBezTo>
                    <a:pt x="50292" y="1488567"/>
                    <a:pt x="0" y="1438402"/>
                    <a:pt x="0" y="1376426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1200121" y="8028232"/>
            <a:ext cx="15887300" cy="3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🔒</a:t>
            </a:r>
            <a:r>
              <a:rPr lang="en-US" sz="19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Security Rule — Strictly Enforced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00121" y="8404917"/>
            <a:ext cx="158873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5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Only SELECT queries permitted.</a:t>
            </a:r>
            <a:r>
              <a:rPr lang="en-US"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Blocked operations: INSERT · UPDATE · DELETE · DROP · ALTER · CREATE · TRUNCATE · GRANT · REVOKE · Multiple Statements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089269"/>
            <a:ext cx="16303114" cy="58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3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Core Features &amp; Query Capabilities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954711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Natural Language Filtering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2948730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Department &amp; Job Title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10" y="3331959"/>
            <a:ext cx="7939783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Filter by any department name or job title string — exact matching and fuzzy normalization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10" y="4406798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Date &amp; Date Ranges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10" y="4790037"/>
            <a:ext cx="7939783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Hire date filtering, multi-year ranges, and historical point-in-time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10" y="5864866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Employee Status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10" y="6248105"/>
            <a:ext cx="7939783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Full support for ACTIVE, INACTIVE, and ON_LEAVE status categories with effective dating rules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65075" y="1954711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Analytics &amp; Aggregation Capabilities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55550" y="2372173"/>
            <a:ext cx="3928224" cy="876595"/>
            <a:chOff x="0" y="0"/>
            <a:chExt cx="5237632" cy="11687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37607" cy="1168781"/>
            </a:xfrm>
            <a:custGeom>
              <a:avLst/>
              <a:gdLst/>
              <a:ahLst/>
              <a:cxnLst/>
              <a:rect l="l" t="t" r="r" b="b"/>
              <a:pathLst>
                <a:path w="5237607" h="1168781">
                  <a:moveTo>
                    <a:pt x="0" y="99441"/>
                  </a:moveTo>
                  <a:cubicBezTo>
                    <a:pt x="0" y="44450"/>
                    <a:pt x="44450" y="0"/>
                    <a:pt x="99441" y="0"/>
                  </a:cubicBezTo>
                  <a:lnTo>
                    <a:pt x="5138166" y="0"/>
                  </a:lnTo>
                  <a:cubicBezTo>
                    <a:pt x="5193030" y="0"/>
                    <a:pt x="5237607" y="44450"/>
                    <a:pt x="5237607" y="99441"/>
                  </a:cubicBezTo>
                  <a:lnTo>
                    <a:pt x="5237607" y="1069340"/>
                  </a:lnTo>
                  <a:cubicBezTo>
                    <a:pt x="5237607" y="1124204"/>
                    <a:pt x="5193157" y="1168781"/>
                    <a:pt x="5138166" y="1168781"/>
                  </a:cubicBezTo>
                  <a:lnTo>
                    <a:pt x="99441" y="1168781"/>
                  </a:lnTo>
                  <a:cubicBezTo>
                    <a:pt x="44450" y="1168781"/>
                    <a:pt x="0" y="1124331"/>
                    <a:pt x="0" y="106934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9557652" y="2545709"/>
            <a:ext cx="3524012" cy="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Count employees — total, by department, by job title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386159" y="2372173"/>
            <a:ext cx="3928224" cy="876595"/>
            <a:chOff x="0" y="0"/>
            <a:chExt cx="5237632" cy="11687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37607" cy="1168781"/>
            </a:xfrm>
            <a:custGeom>
              <a:avLst/>
              <a:gdLst/>
              <a:ahLst/>
              <a:cxnLst/>
              <a:rect l="l" t="t" r="r" b="b"/>
              <a:pathLst>
                <a:path w="5237607" h="1168781">
                  <a:moveTo>
                    <a:pt x="0" y="99441"/>
                  </a:moveTo>
                  <a:cubicBezTo>
                    <a:pt x="0" y="44450"/>
                    <a:pt x="44450" y="0"/>
                    <a:pt x="99441" y="0"/>
                  </a:cubicBezTo>
                  <a:lnTo>
                    <a:pt x="5138166" y="0"/>
                  </a:lnTo>
                  <a:cubicBezTo>
                    <a:pt x="5193030" y="0"/>
                    <a:pt x="5237607" y="44450"/>
                    <a:pt x="5237607" y="99441"/>
                  </a:cubicBezTo>
                  <a:lnTo>
                    <a:pt x="5237607" y="1069340"/>
                  </a:lnTo>
                  <a:cubicBezTo>
                    <a:pt x="5237607" y="1124204"/>
                    <a:pt x="5193157" y="1168781"/>
                    <a:pt x="5138166" y="1168781"/>
                  </a:cubicBezTo>
                  <a:lnTo>
                    <a:pt x="99441" y="1168781"/>
                  </a:lnTo>
                  <a:cubicBezTo>
                    <a:pt x="44450" y="1168781"/>
                    <a:pt x="0" y="1124331"/>
                    <a:pt x="0" y="106934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588260" y="2545709"/>
            <a:ext cx="3524012" cy="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Distinct / unique job-title counts per department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355550" y="3351162"/>
            <a:ext cx="3928224" cy="876595"/>
            <a:chOff x="0" y="0"/>
            <a:chExt cx="5237632" cy="11687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37607" cy="1168781"/>
            </a:xfrm>
            <a:custGeom>
              <a:avLst/>
              <a:gdLst/>
              <a:ahLst/>
              <a:cxnLst/>
              <a:rect l="l" t="t" r="r" b="b"/>
              <a:pathLst>
                <a:path w="5237607" h="1168781">
                  <a:moveTo>
                    <a:pt x="0" y="99441"/>
                  </a:moveTo>
                  <a:cubicBezTo>
                    <a:pt x="0" y="44450"/>
                    <a:pt x="44450" y="0"/>
                    <a:pt x="99441" y="0"/>
                  </a:cubicBezTo>
                  <a:lnTo>
                    <a:pt x="5138166" y="0"/>
                  </a:lnTo>
                  <a:cubicBezTo>
                    <a:pt x="5193030" y="0"/>
                    <a:pt x="5237607" y="44450"/>
                    <a:pt x="5237607" y="99441"/>
                  </a:cubicBezTo>
                  <a:lnTo>
                    <a:pt x="5237607" y="1069340"/>
                  </a:lnTo>
                  <a:cubicBezTo>
                    <a:pt x="5237607" y="1124204"/>
                    <a:pt x="5193157" y="1168781"/>
                    <a:pt x="5138166" y="1168781"/>
                  </a:cubicBezTo>
                  <a:lnTo>
                    <a:pt x="99441" y="1168781"/>
                  </a:lnTo>
                  <a:cubicBezTo>
                    <a:pt x="44450" y="1168781"/>
                    <a:pt x="0" y="1124331"/>
                    <a:pt x="0" y="106934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557652" y="3524698"/>
            <a:ext cx="3524012" cy="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Highest / lowest employee count ranking across departments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386159" y="3351162"/>
            <a:ext cx="3928224" cy="876595"/>
            <a:chOff x="0" y="0"/>
            <a:chExt cx="5237632" cy="11687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37607" cy="1168781"/>
            </a:xfrm>
            <a:custGeom>
              <a:avLst/>
              <a:gdLst/>
              <a:ahLst/>
              <a:cxnLst/>
              <a:rect l="l" t="t" r="r" b="b"/>
              <a:pathLst>
                <a:path w="5237607" h="1168781">
                  <a:moveTo>
                    <a:pt x="0" y="99441"/>
                  </a:moveTo>
                  <a:cubicBezTo>
                    <a:pt x="0" y="44450"/>
                    <a:pt x="44450" y="0"/>
                    <a:pt x="99441" y="0"/>
                  </a:cubicBezTo>
                  <a:lnTo>
                    <a:pt x="5138166" y="0"/>
                  </a:lnTo>
                  <a:cubicBezTo>
                    <a:pt x="5193030" y="0"/>
                    <a:pt x="5237607" y="44450"/>
                    <a:pt x="5237607" y="99441"/>
                  </a:cubicBezTo>
                  <a:lnTo>
                    <a:pt x="5237607" y="1069340"/>
                  </a:lnTo>
                  <a:cubicBezTo>
                    <a:pt x="5237607" y="1124204"/>
                    <a:pt x="5193157" y="1168781"/>
                    <a:pt x="5138166" y="1168781"/>
                  </a:cubicBezTo>
                  <a:lnTo>
                    <a:pt x="99441" y="1168781"/>
                  </a:lnTo>
                  <a:cubicBezTo>
                    <a:pt x="44450" y="1168781"/>
                    <a:pt x="0" y="1124331"/>
                    <a:pt x="0" y="106934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3588260" y="3524698"/>
            <a:ext cx="3524012" cy="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Active / inactive / on-leave distribution analysis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355550" y="4330151"/>
            <a:ext cx="3928224" cy="876595"/>
            <a:chOff x="0" y="0"/>
            <a:chExt cx="5237632" cy="116879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37607" cy="1168781"/>
            </a:xfrm>
            <a:custGeom>
              <a:avLst/>
              <a:gdLst/>
              <a:ahLst/>
              <a:cxnLst/>
              <a:rect l="l" t="t" r="r" b="b"/>
              <a:pathLst>
                <a:path w="5237607" h="1168781">
                  <a:moveTo>
                    <a:pt x="0" y="99441"/>
                  </a:moveTo>
                  <a:cubicBezTo>
                    <a:pt x="0" y="44450"/>
                    <a:pt x="44450" y="0"/>
                    <a:pt x="99441" y="0"/>
                  </a:cubicBezTo>
                  <a:lnTo>
                    <a:pt x="5138166" y="0"/>
                  </a:lnTo>
                  <a:cubicBezTo>
                    <a:pt x="5193030" y="0"/>
                    <a:pt x="5237607" y="44450"/>
                    <a:pt x="5237607" y="99441"/>
                  </a:cubicBezTo>
                  <a:lnTo>
                    <a:pt x="5237607" y="1069340"/>
                  </a:lnTo>
                  <a:cubicBezTo>
                    <a:pt x="5237607" y="1124204"/>
                    <a:pt x="5193157" y="1168781"/>
                    <a:pt x="5138166" y="1168781"/>
                  </a:cubicBezTo>
                  <a:lnTo>
                    <a:pt x="99441" y="1168781"/>
                  </a:lnTo>
                  <a:cubicBezTo>
                    <a:pt x="44450" y="1168781"/>
                    <a:pt x="0" y="1124331"/>
                    <a:pt x="0" y="106934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9557652" y="4503687"/>
            <a:ext cx="3524012" cy="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Historical active employee analysis using effective dates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3386159" y="4330151"/>
            <a:ext cx="3928224" cy="876595"/>
            <a:chOff x="0" y="0"/>
            <a:chExt cx="5237632" cy="116879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237607" cy="1168781"/>
            </a:xfrm>
            <a:custGeom>
              <a:avLst/>
              <a:gdLst/>
              <a:ahLst/>
              <a:cxnLst/>
              <a:rect l="l" t="t" r="r" b="b"/>
              <a:pathLst>
                <a:path w="5237607" h="1168781">
                  <a:moveTo>
                    <a:pt x="0" y="99441"/>
                  </a:moveTo>
                  <a:cubicBezTo>
                    <a:pt x="0" y="44450"/>
                    <a:pt x="44450" y="0"/>
                    <a:pt x="99441" y="0"/>
                  </a:cubicBezTo>
                  <a:lnTo>
                    <a:pt x="5138166" y="0"/>
                  </a:lnTo>
                  <a:cubicBezTo>
                    <a:pt x="5193030" y="0"/>
                    <a:pt x="5237607" y="44450"/>
                    <a:pt x="5237607" y="99441"/>
                  </a:cubicBezTo>
                  <a:lnTo>
                    <a:pt x="5237607" y="1069340"/>
                  </a:lnTo>
                  <a:cubicBezTo>
                    <a:pt x="5237607" y="1124204"/>
                    <a:pt x="5193157" y="1168781"/>
                    <a:pt x="5138166" y="1168781"/>
                  </a:cubicBezTo>
                  <a:lnTo>
                    <a:pt x="99441" y="1168781"/>
                  </a:lnTo>
                  <a:cubicBezTo>
                    <a:pt x="44450" y="1168781"/>
                    <a:pt x="0" y="1124331"/>
                    <a:pt x="0" y="106934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9050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3588260" y="4503687"/>
            <a:ext cx="3524012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Hire-date trend analysis across time periods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2210" y="6812756"/>
            <a:ext cx="16303114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Platform &amp; System Features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87447" y="7280672"/>
            <a:ext cx="16312639" cy="1883569"/>
            <a:chOff x="0" y="0"/>
            <a:chExt cx="21750185" cy="251142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750274" cy="2511425"/>
            </a:xfrm>
            <a:custGeom>
              <a:avLst/>
              <a:gdLst/>
              <a:ahLst/>
              <a:cxnLst/>
              <a:rect l="l" t="t" r="r" b="b"/>
              <a:pathLst>
                <a:path w="21750274" h="2511425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lnTo>
                    <a:pt x="21652485" y="0"/>
                  </a:lnTo>
                  <a:cubicBezTo>
                    <a:pt x="21706460" y="0"/>
                    <a:pt x="21750274" y="43815"/>
                    <a:pt x="21750274" y="97790"/>
                  </a:cubicBezTo>
                  <a:lnTo>
                    <a:pt x="21750274" y="2413635"/>
                  </a:lnTo>
                  <a:cubicBezTo>
                    <a:pt x="21750274" y="2467610"/>
                    <a:pt x="21706460" y="2511425"/>
                    <a:pt x="21652485" y="2511425"/>
                  </a:cubicBezTo>
                  <a:lnTo>
                    <a:pt x="97790" y="2511425"/>
                  </a:lnTo>
                  <a:cubicBezTo>
                    <a:pt x="43815" y="2511425"/>
                    <a:pt x="0" y="2467610"/>
                    <a:pt x="0" y="2413635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001735" y="7294959"/>
            <a:ext cx="5427926" cy="927497"/>
            <a:chOff x="0" y="0"/>
            <a:chExt cx="7237235" cy="123666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237222" cy="1236599"/>
            </a:xfrm>
            <a:custGeom>
              <a:avLst/>
              <a:gdLst/>
              <a:ahLst/>
              <a:cxnLst/>
              <a:rect l="l" t="t" r="r" b="b"/>
              <a:pathLst>
                <a:path w="7237222" h="1236599">
                  <a:moveTo>
                    <a:pt x="81026" y="0"/>
                  </a:moveTo>
                  <a:lnTo>
                    <a:pt x="7237222" y="0"/>
                  </a:lnTo>
                  <a:lnTo>
                    <a:pt x="7237222" y="1236599"/>
                  </a:lnTo>
                  <a:lnTo>
                    <a:pt x="0" y="1236599"/>
                  </a:lnTo>
                  <a:lnTo>
                    <a:pt x="0" y="81026"/>
                  </a:lnTo>
                  <a:cubicBezTo>
                    <a:pt x="0" y="36322"/>
                    <a:pt x="36322" y="0"/>
                    <a:pt x="81026" y="0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1175271" y="7449445"/>
            <a:ext cx="5080864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Multi-Dataset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75271" y="7784154"/>
            <a:ext cx="5080864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Isolated dataset support; switch between HR datasets seamlessly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429661" y="7294959"/>
            <a:ext cx="5428069" cy="927497"/>
            <a:chOff x="0" y="0"/>
            <a:chExt cx="7237425" cy="123666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237476" cy="1236599"/>
            </a:xfrm>
            <a:custGeom>
              <a:avLst/>
              <a:gdLst/>
              <a:ahLst/>
              <a:cxnLst/>
              <a:rect l="l" t="t" r="r" b="b"/>
              <a:pathLst>
                <a:path w="7237476" h="1236599">
                  <a:moveTo>
                    <a:pt x="0" y="0"/>
                  </a:moveTo>
                  <a:lnTo>
                    <a:pt x="7237476" y="0"/>
                  </a:lnTo>
                  <a:lnTo>
                    <a:pt x="7237476" y="1236599"/>
                  </a:lnTo>
                  <a:lnTo>
                    <a:pt x="0" y="1236599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6429661" y="7294959"/>
            <a:ext cx="19050" cy="927497"/>
            <a:chOff x="0" y="0"/>
            <a:chExt cx="25400" cy="123666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5400" cy="1236599"/>
            </a:xfrm>
            <a:custGeom>
              <a:avLst/>
              <a:gdLst/>
              <a:ahLst/>
              <a:cxnLst/>
              <a:rect l="l" t="t" r="r" b="b"/>
              <a:pathLst>
                <a:path w="25400" h="123659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223899"/>
                  </a:lnTo>
                  <a:cubicBezTo>
                    <a:pt x="25400" y="1230884"/>
                    <a:pt x="19685" y="1236599"/>
                    <a:pt x="12700" y="1236599"/>
                  </a:cubicBezTo>
                  <a:cubicBezTo>
                    <a:pt x="5715" y="1236599"/>
                    <a:pt x="0" y="1230884"/>
                    <a:pt x="0" y="122389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6603187" y="7449445"/>
            <a:ext cx="5081016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Fast SQL Builder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603187" y="7784154"/>
            <a:ext cx="5081016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Deterministic handler for common queries — no AI latency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1857730" y="7294959"/>
            <a:ext cx="5428069" cy="927497"/>
            <a:chOff x="0" y="0"/>
            <a:chExt cx="7237425" cy="123666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237476" cy="1236599"/>
            </a:xfrm>
            <a:custGeom>
              <a:avLst/>
              <a:gdLst/>
              <a:ahLst/>
              <a:cxnLst/>
              <a:rect l="l" t="t" r="r" b="b"/>
              <a:pathLst>
                <a:path w="7237476" h="1236599">
                  <a:moveTo>
                    <a:pt x="0" y="0"/>
                  </a:moveTo>
                  <a:lnTo>
                    <a:pt x="7156450" y="0"/>
                  </a:lnTo>
                  <a:cubicBezTo>
                    <a:pt x="7201154" y="0"/>
                    <a:pt x="7237476" y="36322"/>
                    <a:pt x="7237476" y="81026"/>
                  </a:cubicBezTo>
                  <a:lnTo>
                    <a:pt x="7237476" y="1236599"/>
                  </a:lnTo>
                  <a:lnTo>
                    <a:pt x="0" y="1236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1857730" y="7294959"/>
            <a:ext cx="19050" cy="927497"/>
            <a:chOff x="0" y="0"/>
            <a:chExt cx="25400" cy="123666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5400" cy="1236599"/>
            </a:xfrm>
            <a:custGeom>
              <a:avLst/>
              <a:gdLst/>
              <a:ahLst/>
              <a:cxnLst/>
              <a:rect l="l" t="t" r="r" b="b"/>
              <a:pathLst>
                <a:path w="25400" h="123659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223899"/>
                  </a:lnTo>
                  <a:cubicBezTo>
                    <a:pt x="25400" y="1230884"/>
                    <a:pt x="19685" y="1236599"/>
                    <a:pt x="12700" y="1236599"/>
                  </a:cubicBezTo>
                  <a:cubicBezTo>
                    <a:pt x="5715" y="1236599"/>
                    <a:pt x="0" y="1230884"/>
                    <a:pt x="0" y="122389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50" name="TextBox 50"/>
          <p:cNvSpPr txBox="1"/>
          <p:nvPr/>
        </p:nvSpPr>
        <p:spPr>
          <a:xfrm>
            <a:off x="12031266" y="7449445"/>
            <a:ext cx="5081016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RAG Knowledge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031266" y="7784154"/>
            <a:ext cx="5081016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Business and security rule retrieval for complex AI-routed queries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001735" y="8222456"/>
            <a:ext cx="8142037" cy="927497"/>
            <a:chOff x="0" y="0"/>
            <a:chExt cx="10856049" cy="123666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856087" cy="1236599"/>
            </a:xfrm>
            <a:custGeom>
              <a:avLst/>
              <a:gdLst/>
              <a:ahLst/>
              <a:cxnLst/>
              <a:rect l="l" t="t" r="r" b="b"/>
              <a:pathLst>
                <a:path w="10856087" h="1236599">
                  <a:moveTo>
                    <a:pt x="0" y="0"/>
                  </a:moveTo>
                  <a:lnTo>
                    <a:pt x="10856087" y="0"/>
                  </a:lnTo>
                  <a:lnTo>
                    <a:pt x="10856087" y="1236599"/>
                  </a:lnTo>
                  <a:lnTo>
                    <a:pt x="81026" y="1236599"/>
                  </a:lnTo>
                  <a:cubicBezTo>
                    <a:pt x="36322" y="1236599"/>
                    <a:pt x="0" y="1200404"/>
                    <a:pt x="0" y="11555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001735" y="8222456"/>
            <a:ext cx="8142037" cy="19050"/>
            <a:chOff x="0" y="0"/>
            <a:chExt cx="10856049" cy="25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856087" cy="25400"/>
            </a:xfrm>
            <a:custGeom>
              <a:avLst/>
              <a:gdLst/>
              <a:ahLst/>
              <a:cxnLst/>
              <a:rect l="l" t="t" r="r" b="b"/>
              <a:pathLst>
                <a:path w="10856087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0843387" y="0"/>
                  </a:lnTo>
                  <a:cubicBezTo>
                    <a:pt x="10850372" y="0"/>
                    <a:pt x="10856087" y="5715"/>
                    <a:pt x="10856087" y="12700"/>
                  </a:cubicBezTo>
                  <a:cubicBezTo>
                    <a:pt x="10856087" y="19685"/>
                    <a:pt x="10850372" y="25400"/>
                    <a:pt x="10843387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1175271" y="8376942"/>
            <a:ext cx="7794974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CSV Export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75271" y="8711651"/>
            <a:ext cx="7794974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Export query results as CSV for downstream reporting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9143771" y="8222456"/>
            <a:ext cx="8142037" cy="927497"/>
            <a:chOff x="0" y="0"/>
            <a:chExt cx="10856049" cy="123666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856087" cy="1236599"/>
            </a:xfrm>
            <a:custGeom>
              <a:avLst/>
              <a:gdLst/>
              <a:ahLst/>
              <a:cxnLst/>
              <a:rect l="l" t="t" r="r" b="b"/>
              <a:pathLst>
                <a:path w="10856087" h="1236599">
                  <a:moveTo>
                    <a:pt x="0" y="0"/>
                  </a:moveTo>
                  <a:lnTo>
                    <a:pt x="10856087" y="0"/>
                  </a:lnTo>
                  <a:lnTo>
                    <a:pt x="10856087" y="1155573"/>
                  </a:lnTo>
                  <a:cubicBezTo>
                    <a:pt x="10856087" y="1200277"/>
                    <a:pt x="10819765" y="1236599"/>
                    <a:pt x="10775061" y="1236599"/>
                  </a:cubicBezTo>
                  <a:lnTo>
                    <a:pt x="0" y="1236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9143771" y="8222456"/>
            <a:ext cx="19050" cy="927497"/>
            <a:chOff x="0" y="0"/>
            <a:chExt cx="25400" cy="123666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5400" cy="1236599"/>
            </a:xfrm>
            <a:custGeom>
              <a:avLst/>
              <a:gdLst/>
              <a:ahLst/>
              <a:cxnLst/>
              <a:rect l="l" t="t" r="r" b="b"/>
              <a:pathLst>
                <a:path w="25400" h="123659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223899"/>
                  </a:lnTo>
                  <a:cubicBezTo>
                    <a:pt x="25400" y="1230884"/>
                    <a:pt x="19685" y="1236599"/>
                    <a:pt x="12700" y="1236599"/>
                  </a:cubicBezTo>
                  <a:cubicBezTo>
                    <a:pt x="5715" y="1236599"/>
                    <a:pt x="0" y="1230884"/>
                    <a:pt x="0" y="122389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9143771" y="8222456"/>
            <a:ext cx="8142037" cy="19050"/>
            <a:chOff x="0" y="0"/>
            <a:chExt cx="10856049" cy="254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856087" cy="25400"/>
            </a:xfrm>
            <a:custGeom>
              <a:avLst/>
              <a:gdLst/>
              <a:ahLst/>
              <a:cxnLst/>
              <a:rect l="l" t="t" r="r" b="b"/>
              <a:pathLst>
                <a:path w="10856087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0843387" y="0"/>
                  </a:lnTo>
                  <a:cubicBezTo>
                    <a:pt x="10850372" y="0"/>
                    <a:pt x="10856087" y="5715"/>
                    <a:pt x="10856087" y="12700"/>
                  </a:cubicBezTo>
                  <a:cubicBezTo>
                    <a:pt x="10856087" y="19685"/>
                    <a:pt x="10850372" y="25400"/>
                    <a:pt x="10843387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9317298" y="8376942"/>
            <a:ext cx="7794974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Auth &amp; Sessions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317298" y="8711651"/>
            <a:ext cx="7794974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User registration, login, and session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847555"/>
            <a:ext cx="16303114" cy="58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3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Security &amp; Data Protection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2712987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Authentication &amp; Access Control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0986" y="3303984"/>
            <a:ext cx="7478430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User login and registration with session-based authentication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0986" y="4046782"/>
            <a:ext cx="7478430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All API endpoints are protected — unauthenticated requests return </a:t>
            </a:r>
            <a:r>
              <a:rPr lang="en-US" sz="13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403 Forbidden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0986" y="4789589"/>
            <a:ext cx="7478430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Session cookie issued upon successful login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10" y="5364509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CSRF Protection — Verified Results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992212" y="5791497"/>
          <a:ext cx="7924800" cy="2608488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209"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Result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70"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Unauthenticated request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403 Forbidden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70"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Session cookie after login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Active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70"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CSRF token on POST requests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Supplied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70"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CSRF endpoint pre-login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Accessible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209"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Final CSRF endpoint test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HTTP 200 OK</a:t>
                      </a:r>
                      <a:endParaRPr lang="en-US" sz="1100"/>
                    </a:p>
                  </a:txBody>
                  <a:tcPr marL="115774" marR="115774" marT="115774" marB="115774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9365075" y="2712987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Dataset-Level Security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65075" y="3096225"/>
            <a:ext cx="8854164" cy="2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Every query requires a </a:t>
            </a:r>
            <a:r>
              <a:rPr lang="en-US" sz="13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dataset_id</a:t>
            </a: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 The SQL engine enforces dataset isolation at the query level: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65075" y="3497609"/>
            <a:ext cx="7939783" cy="624926"/>
            <a:chOff x="0" y="0"/>
            <a:chExt cx="10586377" cy="8332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586465" cy="833247"/>
            </a:xfrm>
            <a:custGeom>
              <a:avLst/>
              <a:gdLst/>
              <a:ahLst/>
              <a:cxnLst/>
              <a:rect l="l" t="t" r="r" b="b"/>
              <a:pathLst>
                <a:path w="10586465" h="833247">
                  <a:moveTo>
                    <a:pt x="0" y="97282"/>
                  </a:moveTo>
                  <a:cubicBezTo>
                    <a:pt x="0" y="43561"/>
                    <a:pt x="43561" y="0"/>
                    <a:pt x="97282" y="0"/>
                  </a:cubicBezTo>
                  <a:lnTo>
                    <a:pt x="10489184" y="0"/>
                  </a:lnTo>
                  <a:cubicBezTo>
                    <a:pt x="10542905" y="0"/>
                    <a:pt x="10586465" y="43561"/>
                    <a:pt x="10586465" y="97282"/>
                  </a:cubicBezTo>
                  <a:lnTo>
                    <a:pt x="10586465" y="735965"/>
                  </a:lnTo>
                  <a:cubicBezTo>
                    <a:pt x="10586465" y="789686"/>
                    <a:pt x="10542905" y="833247"/>
                    <a:pt x="10489184" y="833247"/>
                  </a:cubicBezTo>
                  <a:lnTo>
                    <a:pt x="97282" y="833247"/>
                  </a:lnTo>
                  <a:cubicBezTo>
                    <a:pt x="43561" y="833247"/>
                    <a:pt x="0" y="789686"/>
                    <a:pt x="0" y="73596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573425" y="3594945"/>
            <a:ext cx="8437455" cy="35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3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WHERE e.dataset_id = selected_dataset_id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65075" y="4230586"/>
            <a:ext cx="7939783" cy="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prevents any cross-dataset data leakage, ensuring users can only access records within their selected dataset.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65075" y="4833938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SQL Safety Validation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360313" y="5256162"/>
            <a:ext cx="3918699" cy="1486500"/>
            <a:chOff x="0" y="0"/>
            <a:chExt cx="5224932" cy="1982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25034" cy="1982089"/>
            </a:xfrm>
            <a:custGeom>
              <a:avLst/>
              <a:gdLst/>
              <a:ahLst/>
              <a:cxnLst/>
              <a:rect l="l" t="t" r="r" b="b"/>
              <a:pathLst>
                <a:path w="5225034" h="1982089">
                  <a:moveTo>
                    <a:pt x="0" y="97917"/>
                  </a:moveTo>
                  <a:cubicBezTo>
                    <a:pt x="0" y="43815"/>
                    <a:pt x="43815" y="0"/>
                    <a:pt x="97917" y="0"/>
                  </a:cubicBezTo>
                  <a:lnTo>
                    <a:pt x="5127117" y="0"/>
                  </a:lnTo>
                  <a:cubicBezTo>
                    <a:pt x="5181219" y="0"/>
                    <a:pt x="5225034" y="43815"/>
                    <a:pt x="5225034" y="97917"/>
                  </a:cubicBezTo>
                  <a:lnTo>
                    <a:pt x="5225034" y="1884172"/>
                  </a:lnTo>
                  <a:cubicBezTo>
                    <a:pt x="5225034" y="1938274"/>
                    <a:pt x="5181219" y="1982089"/>
                    <a:pt x="5127117" y="1982089"/>
                  </a:cubicBezTo>
                  <a:lnTo>
                    <a:pt x="97917" y="1982089"/>
                  </a:lnTo>
                  <a:cubicBezTo>
                    <a:pt x="43815" y="1982089"/>
                    <a:pt x="0" y="1938274"/>
                    <a:pt x="0" y="1884172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548127" y="5424935"/>
            <a:ext cx="3543062" cy="29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✅</a:t>
            </a: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Permitted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48127" y="5817689"/>
            <a:ext cx="3543062" cy="50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SELECT-only reporting queries with dataset isolation enforced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390921" y="5256162"/>
            <a:ext cx="3918699" cy="1486500"/>
            <a:chOff x="0" y="0"/>
            <a:chExt cx="5224932" cy="1982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25034" cy="1982089"/>
            </a:xfrm>
            <a:custGeom>
              <a:avLst/>
              <a:gdLst/>
              <a:ahLst/>
              <a:cxnLst/>
              <a:rect l="l" t="t" r="r" b="b"/>
              <a:pathLst>
                <a:path w="5225034" h="1982089">
                  <a:moveTo>
                    <a:pt x="0" y="97917"/>
                  </a:moveTo>
                  <a:cubicBezTo>
                    <a:pt x="0" y="43815"/>
                    <a:pt x="43815" y="0"/>
                    <a:pt x="97917" y="0"/>
                  </a:cubicBezTo>
                  <a:lnTo>
                    <a:pt x="5127117" y="0"/>
                  </a:lnTo>
                  <a:cubicBezTo>
                    <a:pt x="5181219" y="0"/>
                    <a:pt x="5225034" y="43815"/>
                    <a:pt x="5225034" y="97917"/>
                  </a:cubicBezTo>
                  <a:lnTo>
                    <a:pt x="5225034" y="1884172"/>
                  </a:lnTo>
                  <a:cubicBezTo>
                    <a:pt x="5225034" y="1938274"/>
                    <a:pt x="5181219" y="1982089"/>
                    <a:pt x="5127117" y="1982089"/>
                  </a:cubicBezTo>
                  <a:lnTo>
                    <a:pt x="97917" y="1982089"/>
                  </a:lnTo>
                  <a:cubicBezTo>
                    <a:pt x="43815" y="1982089"/>
                    <a:pt x="0" y="1938274"/>
                    <a:pt x="0" y="1884172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3578735" y="5424935"/>
            <a:ext cx="3543062" cy="29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🚫</a:t>
            </a:r>
            <a:r>
              <a:rPr lang="en-US" sz="16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Blocked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78735" y="5817689"/>
            <a:ext cx="3543062" cy="73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INSERT · UPDATE · DELETE · DROP · ALTER · CREATE · TRUNCATE · GRANT · REVOKE · Multiple Statements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65075" y="6855466"/>
            <a:ext cx="7939783" cy="29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6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Business Rule Security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65075" y="7238705"/>
            <a:ext cx="7939783" cy="543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4316" lvl="1" indent="-122158" algn="l">
              <a:lnSpc>
                <a:spcPts val="1830"/>
              </a:lnSpc>
              <a:buFont typeface="Arial"/>
              <a:buChar char="•"/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Active employee queries automatically apply effective dating logic</a:t>
            </a:r>
          </a:p>
          <a:p>
            <a:pPr marL="244316" lvl="1" indent="-122158" algn="l">
              <a:lnSpc>
                <a:spcPts val="1830"/>
              </a:lnSpc>
              <a:buFont typeface="Arial"/>
              <a:buChar char="•"/>
            </a:pPr>
            <a:r>
              <a:rPr lang="en-US" sz="13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Historical queries use the user-requested date rather than the current system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188396"/>
            <a:ext cx="16303114" cy="45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Testing — Real HR Questions &amp; Verified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670742"/>
            <a:ext cx="16303114" cy="22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3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Dataset: hr_employee_dataset_250_unique (ID: 6) — 250 Total Records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92212" y="2111127"/>
          <a:ext cx="9277350" cy="2561538"/>
        </p:xfrm>
        <a:graphic>
          <a:graphicData uri="http://schemas.openxmlformats.org/drawingml/2006/table">
            <a:tbl>
              <a:tblPr/>
              <a:tblGrid>
                <a:gridCol w="495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8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878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Natural Language Question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Verified Result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Q1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employees are in the IT department?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3C3939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30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Q2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different job titles are in the IT department?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3C3939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6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Q3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Which department has the highest number of employees?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3C3939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Marketing (36)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Q4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Which department has the fewest employees?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3C3939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HR (25)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Q5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Which department has the highest number of inactive employees?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3C3939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Operations (10)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878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Q6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Which department has the fewest inactive employees?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3C3939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IT (3)</a:t>
                      </a:r>
                      <a:endParaRPr lang="en-US" sz="1100"/>
                    </a:p>
                  </a:txBody>
                  <a:tcPr marL="94067" marR="94067" marT="94067" marB="94067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992210" y="4817488"/>
            <a:ext cx="9311202" cy="22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3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Q7: Employees On Leave — By Department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4236" y="5465197"/>
            <a:ext cx="6517767" cy="4356049"/>
            <a:chOff x="0" y="0"/>
            <a:chExt cx="8690356" cy="5808066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690356" cy="5808091"/>
            </a:xfrm>
            <a:custGeom>
              <a:avLst/>
              <a:gdLst/>
              <a:ahLst/>
              <a:cxnLst/>
              <a:rect l="l" t="t" r="r" b="b"/>
              <a:pathLst>
                <a:path w="8690356" h="5808091">
                  <a:moveTo>
                    <a:pt x="0" y="0"/>
                  </a:moveTo>
                  <a:lnTo>
                    <a:pt x="8690356" y="0"/>
                  </a:lnTo>
                  <a:lnTo>
                    <a:pt x="8690356" y="5808091"/>
                  </a:lnTo>
                  <a:lnTo>
                    <a:pt x="0" y="5808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" b="-2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652255" y="2106368"/>
            <a:ext cx="6657213" cy="2620118"/>
            <a:chOff x="0" y="0"/>
            <a:chExt cx="8876284" cy="34934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76284" cy="3493389"/>
            </a:xfrm>
            <a:custGeom>
              <a:avLst/>
              <a:gdLst/>
              <a:ahLst/>
              <a:cxnLst/>
              <a:rect l="l" t="t" r="r" b="b"/>
              <a:pathLst>
                <a:path w="8876284" h="3493389">
                  <a:moveTo>
                    <a:pt x="0" y="79248"/>
                  </a:moveTo>
                  <a:cubicBezTo>
                    <a:pt x="0" y="35560"/>
                    <a:pt x="35560" y="0"/>
                    <a:pt x="79248" y="0"/>
                  </a:cubicBezTo>
                  <a:lnTo>
                    <a:pt x="8797036" y="0"/>
                  </a:lnTo>
                  <a:cubicBezTo>
                    <a:pt x="8840851" y="0"/>
                    <a:pt x="8876284" y="35560"/>
                    <a:pt x="8876284" y="79248"/>
                  </a:cubicBezTo>
                  <a:lnTo>
                    <a:pt x="8876284" y="3414141"/>
                  </a:lnTo>
                  <a:cubicBezTo>
                    <a:pt x="8876284" y="3457956"/>
                    <a:pt x="8840724" y="3493389"/>
                    <a:pt x="8797036" y="3493389"/>
                  </a:cubicBezTo>
                  <a:lnTo>
                    <a:pt x="79248" y="3493389"/>
                  </a:lnTo>
                  <a:cubicBezTo>
                    <a:pt x="35433" y="3493389"/>
                    <a:pt x="0" y="3457829"/>
                    <a:pt x="0" y="3414141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0807627" y="2252215"/>
            <a:ext cx="6346469" cy="239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3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🏆</a:t>
            </a:r>
            <a:r>
              <a:rPr lang="en-US" sz="13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Latest End-to-End Test — Key Achievement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07627" y="2552852"/>
            <a:ext cx="6346469" cy="37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3"/>
              </a:lnSpc>
            </a:pPr>
            <a:r>
              <a:rPr lang="en-US" sz="10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Q8:</a:t>
            </a:r>
            <a:r>
              <a:rPr lang="en-US" sz="10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i="1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"How many Software Developers in the IT department were hired between 2018-01-01 and 2020-12-31?"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07627" y="2967933"/>
            <a:ext cx="6346469" cy="91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07627" y="3949008"/>
            <a:ext cx="6346469" cy="622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3"/>
              </a:lnSpc>
            </a:pPr>
            <a:r>
              <a:rPr lang="en-US" sz="10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Verified employee count</a:t>
            </a:r>
          </a:p>
          <a:p>
            <a:pPr algn="l">
              <a:lnSpc>
                <a:spcPts val="1323"/>
              </a:lnSpc>
            </a:pPr>
            <a:r>
              <a:rPr lang="en-US" sz="10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Multi-condition query combining </a:t>
            </a:r>
            <a:r>
              <a:rPr lang="en-US" sz="105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Department + Job Title + Hire Date Range</a:t>
            </a:r>
            <a:r>
              <a:rPr lang="en-US" sz="10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successfully converted to safe SQL and executed against 250 records.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647645" y="5228111"/>
            <a:ext cx="6647688" cy="568823"/>
            <a:chOff x="0" y="0"/>
            <a:chExt cx="8863584" cy="7584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863584" cy="758444"/>
            </a:xfrm>
            <a:custGeom>
              <a:avLst/>
              <a:gdLst/>
              <a:ahLst/>
              <a:cxnLst/>
              <a:rect l="l" t="t" r="r" b="b"/>
              <a:pathLst>
                <a:path w="8863584" h="758444">
                  <a:moveTo>
                    <a:pt x="0" y="78994"/>
                  </a:moveTo>
                  <a:cubicBezTo>
                    <a:pt x="0" y="35433"/>
                    <a:pt x="35433" y="0"/>
                    <a:pt x="78994" y="0"/>
                  </a:cubicBezTo>
                  <a:lnTo>
                    <a:pt x="8784590" y="0"/>
                  </a:lnTo>
                  <a:cubicBezTo>
                    <a:pt x="8828278" y="0"/>
                    <a:pt x="8863584" y="35433"/>
                    <a:pt x="8863584" y="78994"/>
                  </a:cubicBezTo>
                  <a:lnTo>
                    <a:pt x="8863584" y="679450"/>
                  </a:lnTo>
                  <a:cubicBezTo>
                    <a:pt x="8863584" y="723138"/>
                    <a:pt x="8828151" y="758444"/>
                    <a:pt x="8784590" y="758444"/>
                  </a:cubicBezTo>
                  <a:lnTo>
                    <a:pt x="78994" y="758444"/>
                  </a:lnTo>
                  <a:cubicBezTo>
                    <a:pt x="35433" y="758444"/>
                    <a:pt x="0" y="723011"/>
                    <a:pt x="0" y="679450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798102" y="4937227"/>
            <a:ext cx="176355" cy="141084"/>
            <a:chOff x="0" y="0"/>
            <a:chExt cx="235140" cy="18811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235204" cy="188087"/>
            </a:xfrm>
            <a:custGeom>
              <a:avLst/>
              <a:gdLst/>
              <a:ahLst/>
              <a:cxnLst/>
              <a:rect l="l" t="t" r="r" b="b"/>
              <a:pathLst>
                <a:path w="235204" h="188087">
                  <a:moveTo>
                    <a:pt x="0" y="0"/>
                  </a:moveTo>
                  <a:lnTo>
                    <a:pt x="235204" y="0"/>
                  </a:lnTo>
                  <a:lnTo>
                    <a:pt x="235204" y="188087"/>
                  </a:lnTo>
                  <a:lnTo>
                    <a:pt x="0" y="18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69" r="-637" b="-1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0974457" y="5316512"/>
            <a:ext cx="6048080" cy="37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3"/>
              </a:lnSpc>
            </a:pPr>
            <a:r>
              <a:rPr lang="en-US" sz="10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 8 test questions returned verified, accurate results. System correctly handles simple counts, rankings, distribution queries, and complex multi-condition filtering.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81457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703507"/>
            <a:ext cx="16303114" cy="39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Implementation &amp; End-to-End Testing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224115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Live Demonstration Flow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10" y="1491701"/>
            <a:ext cx="236782" cy="147933"/>
            <a:chOff x="0" y="0"/>
            <a:chExt cx="315709" cy="1972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210" y="1673723"/>
            <a:ext cx="6347955" cy="19050"/>
            <a:chOff x="0" y="0"/>
            <a:chExt cx="8463940" cy="25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92210" y="1751857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Start MySQL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10" y="2012309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Database server initialized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10" y="2297316"/>
            <a:ext cx="236782" cy="147933"/>
            <a:chOff x="0" y="0"/>
            <a:chExt cx="315709" cy="1972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10" y="2479329"/>
            <a:ext cx="6347955" cy="19050"/>
            <a:chOff x="0" y="0"/>
            <a:chExt cx="8463940" cy="25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92210" y="2557462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Start Django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210" y="2817914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REST API backend running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92210" y="3102921"/>
            <a:ext cx="236782" cy="147933"/>
            <a:chOff x="0" y="0"/>
            <a:chExt cx="315709" cy="1972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2210" y="3284934"/>
            <a:ext cx="6347955" cy="19050"/>
            <a:chOff x="0" y="0"/>
            <a:chExt cx="8463940" cy="25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92210" y="3363068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Start React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210" y="3623520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Frontend application launched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92210" y="3908527"/>
            <a:ext cx="236782" cy="147933"/>
            <a:chOff x="0" y="0"/>
            <a:chExt cx="315709" cy="1972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04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92210" y="4090540"/>
            <a:ext cx="6347955" cy="19050"/>
            <a:chOff x="0" y="0"/>
            <a:chExt cx="8463940" cy="25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992210" y="4168673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Login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2210" y="4429125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Authenticate as test user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92210" y="4714132"/>
            <a:ext cx="236782" cy="147933"/>
            <a:chOff x="0" y="0"/>
            <a:chExt cx="315709" cy="19724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05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2210" y="4896145"/>
            <a:ext cx="6347955" cy="19050"/>
            <a:chOff x="0" y="0"/>
            <a:chExt cx="8463940" cy="25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992210" y="4974279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CSRF Token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2210" y="5234730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Retrieve token from backend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92210" y="5519738"/>
            <a:ext cx="236782" cy="147933"/>
            <a:chOff x="0" y="0"/>
            <a:chExt cx="315709" cy="1972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06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92210" y="5701751"/>
            <a:ext cx="6347955" cy="19050"/>
            <a:chOff x="0" y="0"/>
            <a:chExt cx="8463940" cy="25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992210" y="5779884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Load Datasets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92210" y="6040336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API returns available datasets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992210" y="6325343"/>
            <a:ext cx="236782" cy="147933"/>
            <a:chOff x="0" y="0"/>
            <a:chExt cx="315709" cy="19724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07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92210" y="6507366"/>
            <a:ext cx="6347955" cy="19050"/>
            <a:chOff x="0" y="0"/>
            <a:chExt cx="8463940" cy="25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55" name="TextBox 55"/>
          <p:cNvSpPr txBox="1"/>
          <p:nvPr/>
        </p:nvSpPr>
        <p:spPr>
          <a:xfrm>
            <a:off x="992210" y="6585499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Select Dataset 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92210" y="6845941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250-employee dataset selected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992210" y="7130948"/>
            <a:ext cx="236782" cy="147933"/>
            <a:chOff x="0" y="0"/>
            <a:chExt cx="315709" cy="1972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08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92210" y="7312971"/>
            <a:ext cx="6347955" cy="19050"/>
            <a:chOff x="0" y="0"/>
            <a:chExt cx="8463940" cy="25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992210" y="7391105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Submit Question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92210" y="7651547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Natural-language query entered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992210" y="7936554"/>
            <a:ext cx="236782" cy="147933"/>
            <a:chOff x="0" y="0"/>
            <a:chExt cx="315709" cy="19724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09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92210" y="8118577"/>
            <a:ext cx="6347955" cy="19050"/>
            <a:chOff x="0" y="0"/>
            <a:chExt cx="8463940" cy="254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69" name="TextBox 69"/>
          <p:cNvSpPr txBox="1"/>
          <p:nvPr/>
        </p:nvSpPr>
        <p:spPr>
          <a:xfrm>
            <a:off x="992210" y="8196710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Route &amp; Execute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92210" y="8457162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Fast SQL Builder → MySQL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992210" y="8742159"/>
            <a:ext cx="236782" cy="147933"/>
            <a:chOff x="0" y="0"/>
            <a:chExt cx="315709" cy="19724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15706" cy="197246"/>
            </a:xfrm>
            <a:custGeom>
              <a:avLst/>
              <a:gdLst/>
              <a:ahLst/>
              <a:cxnLst/>
              <a:rect l="l" t="t" r="r" b="b"/>
              <a:pathLst>
                <a:path w="315706" h="197246">
                  <a:moveTo>
                    <a:pt x="0" y="0"/>
                  </a:moveTo>
                  <a:lnTo>
                    <a:pt x="315706" y="0"/>
                  </a:lnTo>
                  <a:lnTo>
                    <a:pt x="315706" y="197246"/>
                  </a:lnTo>
                  <a:lnTo>
                    <a:pt x="0" y="1972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59" r="-30160" b="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315709" cy="197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10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92210" y="8924182"/>
            <a:ext cx="6347955" cy="19050"/>
            <a:chOff x="0" y="0"/>
            <a:chExt cx="8463940" cy="254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463915" cy="25400"/>
            </a:xfrm>
            <a:custGeom>
              <a:avLst/>
              <a:gdLst/>
              <a:ahLst/>
              <a:cxnLst/>
              <a:rect l="l" t="t" r="r" b="b"/>
              <a:pathLst>
                <a:path w="8463915" h="25400">
                  <a:moveTo>
                    <a:pt x="0" y="0"/>
                  </a:moveTo>
                  <a:lnTo>
                    <a:pt x="8463915" y="0"/>
                  </a:lnTo>
                  <a:lnTo>
                    <a:pt x="846391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id="76" name="TextBox 76"/>
          <p:cNvSpPr txBox="1"/>
          <p:nvPr/>
        </p:nvSpPr>
        <p:spPr>
          <a:xfrm>
            <a:off x="992210" y="9002316"/>
            <a:ext cx="6347955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Display Result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92210" y="9262767"/>
            <a:ext cx="634795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Answer rendered on React dashboard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638412" y="1224115"/>
            <a:ext cx="9666294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API Testing — All Endpoints Verified</a:t>
            </a:r>
          </a:p>
        </p:txBody>
      </p:sp>
      <p:graphicFrame>
        <p:nvGraphicFramePr>
          <p:cNvPr id="79" name="Table 79"/>
          <p:cNvGraphicFramePr>
            <a:graphicFrameLocks noGrp="1"/>
          </p:cNvGraphicFramePr>
          <p:nvPr/>
        </p:nvGraphicFramePr>
        <p:xfrm>
          <a:off x="7638412" y="1491705"/>
          <a:ext cx="9620249" cy="1856280"/>
        </p:xfrm>
        <a:graphic>
          <a:graphicData uri="http://schemas.openxmlformats.org/drawingml/2006/table">
            <a:tbl>
              <a:tblPr/>
              <a:tblGrid>
                <a:gridCol w="3840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5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4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20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API Endpoint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Response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0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Authentication API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 200 OK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Pass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0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 API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 200 OK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Pass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20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 Retrieved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hr_employee_dataset_250_unique (ID: 6, 250 employees)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Pass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200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Assistant API</a:t>
                      </a:r>
                      <a:endParaRPr lang="en-US" sz="110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 200 OK</a:t>
                      </a:r>
                      <a:endParaRPr lang="en-US" sz="1100" dirty="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✓ Pass</a:t>
                      </a:r>
                      <a:endParaRPr lang="en-US" sz="1100" dirty="0"/>
                    </a:p>
                  </a:txBody>
                  <a:tcPr marL="78948" marR="78948" marT="78948" marB="78948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" name="TextBox 80"/>
          <p:cNvSpPr txBox="1"/>
          <p:nvPr/>
        </p:nvSpPr>
        <p:spPr>
          <a:xfrm>
            <a:off x="10820400" y="1287613"/>
            <a:ext cx="9666294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Latest Query — Generated SQL &amp; Response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7638412" y="3390292"/>
            <a:ext cx="9666294" cy="1741302"/>
            <a:chOff x="0" y="0"/>
            <a:chExt cx="12888392" cy="2589009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2888341" cy="2589022"/>
            </a:xfrm>
            <a:custGeom>
              <a:avLst/>
              <a:gdLst/>
              <a:ahLst/>
              <a:cxnLst/>
              <a:rect l="l" t="t" r="r" b="b"/>
              <a:pathLst>
                <a:path w="12888341" h="2589022">
                  <a:moveTo>
                    <a:pt x="0" y="66294"/>
                  </a:moveTo>
                  <a:cubicBezTo>
                    <a:pt x="0" y="29718"/>
                    <a:pt x="29718" y="0"/>
                    <a:pt x="66294" y="0"/>
                  </a:cubicBezTo>
                  <a:lnTo>
                    <a:pt x="12822047" y="0"/>
                  </a:lnTo>
                  <a:cubicBezTo>
                    <a:pt x="12858623" y="0"/>
                    <a:pt x="12888341" y="29718"/>
                    <a:pt x="12888341" y="66294"/>
                  </a:cubicBezTo>
                  <a:lnTo>
                    <a:pt x="12888341" y="2522728"/>
                  </a:lnTo>
                  <a:cubicBezTo>
                    <a:pt x="12888341" y="2559304"/>
                    <a:pt x="12858623" y="2589022"/>
                    <a:pt x="12822047" y="2589022"/>
                  </a:cubicBezTo>
                  <a:lnTo>
                    <a:pt x="66294" y="2589022"/>
                  </a:lnTo>
                  <a:cubicBezTo>
                    <a:pt x="29718" y="2589022"/>
                    <a:pt x="0" y="2559304"/>
                    <a:pt x="0" y="252272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84" name="TextBox 84"/>
          <p:cNvSpPr txBox="1"/>
          <p:nvPr/>
        </p:nvSpPr>
        <p:spPr>
          <a:xfrm>
            <a:off x="7740856" y="3485255"/>
            <a:ext cx="9382335" cy="176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6"/>
              </a:lnSpc>
            </a:pP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SELECT COUNT(*)</a:t>
            </a:r>
          </a:p>
          <a:p>
            <a:pPr algn="l">
              <a:lnSpc>
                <a:spcPts val="1436"/>
              </a:lnSpc>
            </a:pP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en-US" sz="900" dirty="0" err="1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reports_employee</a:t>
            </a: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e</a:t>
            </a:r>
          </a:p>
          <a:p>
            <a:pPr algn="l">
              <a:lnSpc>
                <a:spcPts val="1436"/>
              </a:lnSpc>
            </a:pP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JOIN </a:t>
            </a:r>
            <a:r>
              <a:rPr lang="en-US" sz="900" dirty="0" err="1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reports_department</a:t>
            </a: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</a:p>
          <a:p>
            <a:pPr algn="l">
              <a:lnSpc>
                <a:spcPts val="1436"/>
              </a:lnSpc>
            </a:pP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ON </a:t>
            </a:r>
            <a:r>
              <a:rPr lang="en-US" sz="900" dirty="0" err="1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e.department_id</a:t>
            </a: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= d.id</a:t>
            </a:r>
          </a:p>
          <a:p>
            <a:pPr algn="l">
              <a:lnSpc>
                <a:spcPts val="1436"/>
              </a:lnSpc>
            </a:pP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lang="en-US" sz="900" dirty="0" err="1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e.dataset_id</a:t>
            </a: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= 6</a:t>
            </a:r>
          </a:p>
          <a:p>
            <a:pPr algn="l">
              <a:lnSpc>
                <a:spcPts val="1436"/>
              </a:lnSpc>
            </a:pP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AND d.name = 'IT'</a:t>
            </a:r>
          </a:p>
          <a:p>
            <a:pPr algn="l">
              <a:lnSpc>
                <a:spcPts val="1436"/>
              </a:lnSpc>
            </a:pP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AND </a:t>
            </a:r>
            <a:r>
              <a:rPr lang="en-US" sz="900" dirty="0" err="1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e.job_title</a:t>
            </a: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= 'Software Developer'</a:t>
            </a:r>
          </a:p>
          <a:p>
            <a:pPr algn="l">
              <a:lnSpc>
                <a:spcPts val="1436"/>
              </a:lnSpc>
            </a:pP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AND </a:t>
            </a:r>
            <a:r>
              <a:rPr lang="en-US" sz="900" dirty="0" err="1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e.hire_date</a:t>
            </a: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&gt;= '2018-01-01'</a:t>
            </a:r>
          </a:p>
          <a:p>
            <a:pPr algn="l">
              <a:lnSpc>
                <a:spcPts val="1436"/>
              </a:lnSpc>
            </a:pP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AND </a:t>
            </a:r>
            <a:r>
              <a:rPr lang="en-US" sz="900" dirty="0" err="1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e.hire_date</a:t>
            </a:r>
            <a:r>
              <a:rPr lang="en-US" sz="900" dirty="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&lt;= '2020-12-31'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7633649" y="5190382"/>
            <a:ext cx="9675819" cy="1264444"/>
            <a:chOff x="0" y="0"/>
            <a:chExt cx="12901092" cy="1685925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2901041" cy="1685925"/>
            </a:xfrm>
            <a:custGeom>
              <a:avLst/>
              <a:gdLst/>
              <a:ahLst/>
              <a:cxnLst/>
              <a:rect l="l" t="t" r="r" b="b"/>
              <a:pathLst>
                <a:path w="12901041" h="1685925">
                  <a:moveTo>
                    <a:pt x="0" y="66802"/>
                  </a:moveTo>
                  <a:cubicBezTo>
                    <a:pt x="0" y="29972"/>
                    <a:pt x="29972" y="0"/>
                    <a:pt x="66802" y="0"/>
                  </a:cubicBezTo>
                  <a:lnTo>
                    <a:pt x="12834239" y="0"/>
                  </a:lnTo>
                  <a:cubicBezTo>
                    <a:pt x="12871196" y="0"/>
                    <a:pt x="12901041" y="29972"/>
                    <a:pt x="12901041" y="66802"/>
                  </a:cubicBezTo>
                  <a:lnTo>
                    <a:pt x="12901041" y="1619123"/>
                  </a:lnTo>
                  <a:cubicBezTo>
                    <a:pt x="12901041" y="1656080"/>
                    <a:pt x="12871069" y="1685925"/>
                    <a:pt x="12834239" y="1685925"/>
                  </a:cubicBezTo>
                  <a:lnTo>
                    <a:pt x="66802" y="1685925"/>
                  </a:lnTo>
                  <a:cubicBezTo>
                    <a:pt x="29845" y="1685925"/>
                    <a:pt x="0" y="1655953"/>
                    <a:pt x="0" y="1619123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7647937" y="5204670"/>
            <a:ext cx="4823546" cy="617934"/>
            <a:chOff x="0" y="0"/>
            <a:chExt cx="6431394" cy="82391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431407" cy="823849"/>
            </a:xfrm>
            <a:custGeom>
              <a:avLst/>
              <a:gdLst/>
              <a:ahLst/>
              <a:cxnLst/>
              <a:rect l="l" t="t" r="r" b="b"/>
              <a:pathLst>
                <a:path w="6431407" h="823849">
                  <a:moveTo>
                    <a:pt x="55245" y="0"/>
                  </a:moveTo>
                  <a:lnTo>
                    <a:pt x="6431407" y="0"/>
                  </a:lnTo>
                  <a:lnTo>
                    <a:pt x="6431407" y="823849"/>
                  </a:lnTo>
                  <a:lnTo>
                    <a:pt x="0" y="823849"/>
                  </a:lnTo>
                  <a:lnTo>
                    <a:pt x="0" y="55245"/>
                  </a:lnTo>
                  <a:cubicBezTo>
                    <a:pt x="0" y="24765"/>
                    <a:pt x="24765" y="0"/>
                    <a:pt x="55245" y="0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sp>
        <p:nvSpPr>
          <p:cNvPr id="89" name="TextBox 89"/>
          <p:cNvSpPr txBox="1"/>
          <p:nvPr/>
        </p:nvSpPr>
        <p:spPr>
          <a:xfrm>
            <a:off x="7766256" y="5303939"/>
            <a:ext cx="4586916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API Response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766256" y="5564391"/>
            <a:ext cx="4586916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employee_count = </a:t>
            </a:r>
            <a:r>
              <a:rPr lang="en-US" sz="9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12471483" y="5204670"/>
            <a:ext cx="4823698" cy="617934"/>
            <a:chOff x="0" y="0"/>
            <a:chExt cx="6431598" cy="82391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6431534" cy="823849"/>
            </a:xfrm>
            <a:custGeom>
              <a:avLst/>
              <a:gdLst/>
              <a:ahLst/>
              <a:cxnLst/>
              <a:rect l="l" t="t" r="r" b="b"/>
              <a:pathLst>
                <a:path w="6431534" h="823849">
                  <a:moveTo>
                    <a:pt x="0" y="0"/>
                  </a:moveTo>
                  <a:lnTo>
                    <a:pt x="6376289" y="0"/>
                  </a:lnTo>
                  <a:cubicBezTo>
                    <a:pt x="6406769" y="0"/>
                    <a:pt x="6431534" y="24765"/>
                    <a:pt x="6431534" y="55245"/>
                  </a:cubicBezTo>
                  <a:lnTo>
                    <a:pt x="6431534" y="823849"/>
                  </a:lnTo>
                  <a:lnTo>
                    <a:pt x="0" y="8238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12471483" y="5204670"/>
            <a:ext cx="19050" cy="617934"/>
            <a:chOff x="0" y="0"/>
            <a:chExt cx="25400" cy="823912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5400" cy="823849"/>
            </a:xfrm>
            <a:custGeom>
              <a:avLst/>
              <a:gdLst/>
              <a:ahLst/>
              <a:cxnLst/>
              <a:rect l="l" t="t" r="r" b="b"/>
              <a:pathLst>
                <a:path w="25400" h="82384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811149"/>
                  </a:lnTo>
                  <a:cubicBezTo>
                    <a:pt x="25400" y="818134"/>
                    <a:pt x="19685" y="823849"/>
                    <a:pt x="12700" y="823849"/>
                  </a:cubicBezTo>
                  <a:cubicBezTo>
                    <a:pt x="5715" y="823849"/>
                    <a:pt x="0" y="818134"/>
                    <a:pt x="0" y="81114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95" name="TextBox 95"/>
          <p:cNvSpPr txBox="1"/>
          <p:nvPr/>
        </p:nvSpPr>
        <p:spPr>
          <a:xfrm>
            <a:off x="12589802" y="5303939"/>
            <a:ext cx="4587069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Query Source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2589802" y="5564391"/>
            <a:ext cx="4587069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fast_sql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7647937" y="5822604"/>
            <a:ext cx="9647244" cy="617934"/>
            <a:chOff x="0" y="0"/>
            <a:chExt cx="12862992" cy="823912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2862941" cy="823849"/>
            </a:xfrm>
            <a:custGeom>
              <a:avLst/>
              <a:gdLst/>
              <a:ahLst/>
              <a:cxnLst/>
              <a:rect l="l" t="t" r="r" b="b"/>
              <a:pathLst>
                <a:path w="12862941" h="823849">
                  <a:moveTo>
                    <a:pt x="0" y="0"/>
                  </a:moveTo>
                  <a:lnTo>
                    <a:pt x="12862941" y="0"/>
                  </a:lnTo>
                  <a:lnTo>
                    <a:pt x="12862941" y="768604"/>
                  </a:lnTo>
                  <a:cubicBezTo>
                    <a:pt x="12862941" y="799084"/>
                    <a:pt x="12838176" y="823849"/>
                    <a:pt x="12807697" y="823849"/>
                  </a:cubicBezTo>
                  <a:lnTo>
                    <a:pt x="55245" y="823849"/>
                  </a:lnTo>
                  <a:cubicBezTo>
                    <a:pt x="24765" y="823849"/>
                    <a:pt x="0" y="799211"/>
                    <a:pt x="0" y="7686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id="99" name="Group 99"/>
          <p:cNvGrpSpPr/>
          <p:nvPr/>
        </p:nvGrpSpPr>
        <p:grpSpPr>
          <a:xfrm>
            <a:off x="7647937" y="5822604"/>
            <a:ext cx="9647244" cy="19050"/>
            <a:chOff x="0" y="0"/>
            <a:chExt cx="12862992" cy="254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2862941" cy="25400"/>
            </a:xfrm>
            <a:custGeom>
              <a:avLst/>
              <a:gdLst/>
              <a:ahLst/>
              <a:cxnLst/>
              <a:rect l="l" t="t" r="r" b="b"/>
              <a:pathLst>
                <a:path w="12862941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850241" y="0"/>
                  </a:lnTo>
                  <a:cubicBezTo>
                    <a:pt x="12857226" y="0"/>
                    <a:pt x="12862941" y="5715"/>
                    <a:pt x="12862941" y="12700"/>
                  </a:cubicBezTo>
                  <a:cubicBezTo>
                    <a:pt x="12862941" y="19685"/>
                    <a:pt x="12857226" y="25400"/>
                    <a:pt x="1285024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id="101" name="TextBox 101"/>
          <p:cNvSpPr txBox="1"/>
          <p:nvPr/>
        </p:nvSpPr>
        <p:spPr>
          <a:xfrm>
            <a:off x="7766256" y="5921873"/>
            <a:ext cx="9410614" cy="20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1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Django System Check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766256" y="6182325"/>
            <a:ext cx="9410614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0 issues identified ✓</a:t>
            </a:r>
          </a:p>
        </p:txBody>
      </p:sp>
      <p:grpSp>
        <p:nvGrpSpPr>
          <p:cNvPr id="103" name="Group 103"/>
          <p:cNvGrpSpPr/>
          <p:nvPr/>
        </p:nvGrpSpPr>
        <p:grpSpPr>
          <a:xfrm>
            <a:off x="7638412" y="6591300"/>
            <a:ext cx="9666294" cy="300333"/>
            <a:chOff x="0" y="0"/>
            <a:chExt cx="12888392" cy="400444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2888341" cy="400431"/>
            </a:xfrm>
            <a:custGeom>
              <a:avLst/>
              <a:gdLst/>
              <a:ahLst/>
              <a:cxnLst/>
              <a:rect l="l" t="t" r="r" b="b"/>
              <a:pathLst>
                <a:path w="12888341" h="400431">
                  <a:moveTo>
                    <a:pt x="0" y="66294"/>
                  </a:moveTo>
                  <a:cubicBezTo>
                    <a:pt x="0" y="29718"/>
                    <a:pt x="29718" y="0"/>
                    <a:pt x="66294" y="0"/>
                  </a:cubicBezTo>
                  <a:lnTo>
                    <a:pt x="12822047" y="0"/>
                  </a:lnTo>
                  <a:cubicBezTo>
                    <a:pt x="12858623" y="0"/>
                    <a:pt x="12888341" y="29718"/>
                    <a:pt x="12888341" y="66294"/>
                  </a:cubicBezTo>
                  <a:lnTo>
                    <a:pt x="12888341" y="334137"/>
                  </a:lnTo>
                  <a:cubicBezTo>
                    <a:pt x="12888341" y="370713"/>
                    <a:pt x="12858623" y="400431"/>
                    <a:pt x="12822047" y="400431"/>
                  </a:cubicBezTo>
                  <a:lnTo>
                    <a:pt x="66294" y="400431"/>
                  </a:lnTo>
                  <a:cubicBezTo>
                    <a:pt x="29718" y="400431"/>
                    <a:pt x="0" y="370713"/>
                    <a:pt x="0" y="334137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id="105" name="Group 105"/>
          <p:cNvGrpSpPr/>
          <p:nvPr/>
        </p:nvGrpSpPr>
        <p:grpSpPr>
          <a:xfrm>
            <a:off x="7756731" y="6625380"/>
            <a:ext cx="147933" cy="118320"/>
            <a:chOff x="0" y="0"/>
            <a:chExt cx="197244" cy="157759"/>
          </a:xfrm>
        </p:grpSpPr>
        <p:sp>
          <p:nvSpPr>
            <p:cNvPr id="106" name="Freeform 106" descr="preencoded.png"/>
            <p:cNvSpPr/>
            <p:nvPr/>
          </p:nvSpPr>
          <p:spPr>
            <a:xfrm>
              <a:off x="0" y="0"/>
              <a:ext cx="197231" cy="157734"/>
            </a:xfrm>
            <a:custGeom>
              <a:avLst/>
              <a:gdLst/>
              <a:ahLst/>
              <a:cxnLst/>
              <a:rect l="l" t="t" r="r" b="b"/>
              <a:pathLst>
                <a:path w="197231" h="157734">
                  <a:moveTo>
                    <a:pt x="0" y="0"/>
                  </a:moveTo>
                  <a:lnTo>
                    <a:pt x="197231" y="0"/>
                  </a:lnTo>
                  <a:lnTo>
                    <a:pt x="197231" y="157734"/>
                  </a:lnTo>
                  <a:lnTo>
                    <a:pt x="0" y="157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89" r="-6" b="-813"/>
              </a:stretch>
            </a:blipFill>
          </p:spPr>
        </p:sp>
      </p:grpSp>
      <p:sp>
        <p:nvSpPr>
          <p:cNvPr id="107" name="TextBox 107"/>
          <p:cNvSpPr txBox="1"/>
          <p:nvPr/>
        </p:nvSpPr>
        <p:spPr>
          <a:xfrm>
            <a:off x="8022974" y="6667500"/>
            <a:ext cx="10077793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Status:</a:t>
            </a:r>
            <a:r>
              <a:rPr lang="en-US" sz="9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Core project implemented and working end-to-end. Ready for presentation and live demonstration.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915400" y="3402683"/>
            <a:ext cx="10580675" cy="1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"/>
              </a:lnSpc>
            </a:pPr>
            <a:r>
              <a:rPr lang="en-US" sz="900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Question:</a:t>
            </a:r>
            <a:r>
              <a:rPr lang="en-US" sz="9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900" i="1" dirty="0">
                <a:solidFill>
                  <a:srgbClr val="3C3939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"How many Software Developers in the IT department were hired between 2018-01-01 and 2020-12-31?"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532182"/>
            <a:ext cx="16303114" cy="532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31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 &amp; Future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2307584"/>
            <a:ext cx="8789718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Project Summary — Implemented &amp; Working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3211268"/>
            <a:ext cx="4329303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Frontend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10" y="3567855"/>
            <a:ext cx="4329303" cy="44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React.js with responsive dashboard for natural-language input and result display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52481" y="3211268"/>
            <a:ext cx="4329446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Backend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52481" y="3567855"/>
            <a:ext cx="4329446" cy="44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Django REST Framework with session authentication and protected API endpoints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10" y="4737049"/>
            <a:ext cx="4329303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Database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10" y="5093646"/>
            <a:ext cx="4329303" cy="44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MySQL with dataset-level security; all queries scoped to selected dataset_id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52481" y="4737049"/>
            <a:ext cx="4329446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AI / ML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52481" y="5093646"/>
            <a:ext cx="4329446" cy="44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RAG knowledge retrieval + Ollama + Gemma 3:4B for local, on-premise SQL generation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10" y="6262840"/>
            <a:ext cx="4329303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Security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10" y="6619427"/>
            <a:ext cx="4329303" cy="44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SQL validation, CSRF protection, dataset isolation, SELECT-only enforcement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52481" y="6262840"/>
            <a:ext cx="4329446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Query Engine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52481" y="6619427"/>
            <a:ext cx="4329446" cy="44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Fast SQL Builder for common queries + AI-powered handling for complex multi-condition queries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179882" y="2334968"/>
            <a:ext cx="7129586" cy="2250872"/>
            <a:chOff x="0" y="0"/>
            <a:chExt cx="9506115" cy="30011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06077" cy="3001137"/>
            </a:xfrm>
            <a:custGeom>
              <a:avLst/>
              <a:gdLst/>
              <a:ahLst/>
              <a:cxnLst/>
              <a:rect l="l" t="t" r="r" b="b"/>
              <a:pathLst>
                <a:path w="9506077" h="3001137">
                  <a:moveTo>
                    <a:pt x="0" y="90678"/>
                  </a:moveTo>
                  <a:cubicBezTo>
                    <a:pt x="0" y="40640"/>
                    <a:pt x="40640" y="0"/>
                    <a:pt x="90678" y="0"/>
                  </a:cubicBezTo>
                  <a:lnTo>
                    <a:pt x="9415399" y="0"/>
                  </a:lnTo>
                  <a:cubicBezTo>
                    <a:pt x="9465437" y="0"/>
                    <a:pt x="9506077" y="40640"/>
                    <a:pt x="9506077" y="90678"/>
                  </a:cubicBezTo>
                  <a:lnTo>
                    <a:pt x="9506077" y="2910459"/>
                  </a:lnTo>
                  <a:cubicBezTo>
                    <a:pt x="9506077" y="2960497"/>
                    <a:pt x="9465437" y="3001137"/>
                    <a:pt x="9415399" y="3001137"/>
                  </a:cubicBezTo>
                  <a:lnTo>
                    <a:pt x="90678" y="3001137"/>
                  </a:lnTo>
                  <a:cubicBezTo>
                    <a:pt x="40640" y="3001137"/>
                    <a:pt x="0" y="2960497"/>
                    <a:pt x="0" y="2910459"/>
                  </a:cubicBezTo>
                  <a:close/>
                </a:path>
              </a:pathLst>
            </a:custGeom>
            <a:solidFill>
              <a:srgbClr val="E1E1EA"/>
            </a:solidFill>
            <a:ln w="9525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355351" y="2491388"/>
            <a:ext cx="6778657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🏆</a:t>
            </a:r>
            <a:r>
              <a:rPr lang="en-US" sz="157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Key Achievement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55351" y="2847975"/>
            <a:ext cx="6778657" cy="44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complex multi-condition query combining </a:t>
            </a:r>
            <a:r>
              <a:rPr lang="en-US" sz="12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Department + Job Title + Date Range</a:t>
            </a: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was successfully converted to safe, validated SQL and returned the correct verified result: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55351" y="3368878"/>
            <a:ext cx="677865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43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 Employee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55351" y="4178503"/>
            <a:ext cx="6778657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Demonstrating reliable end-to-end natural language → SQL → answer capability.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84644" y="4679899"/>
            <a:ext cx="7120061" cy="27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Scope </a:t>
            </a:r>
            <a:r>
              <a:rPr lang="en-US" sz="1575">
                <a:solidFill>
                  <a:srgbClr val="003D7A"/>
                </a:solidFill>
                <a:latin typeface="Raleway"/>
                <a:ea typeface="Raleway"/>
                <a:cs typeface="Raleway"/>
                <a:sym typeface="Raleway"/>
              </a:rPr>
              <a:t>(Not Currently Implemented)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08510" y="5049593"/>
            <a:ext cx="6596196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Advanced HR charts and visual analytics dashboard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08510" y="5750719"/>
            <a:ext cx="6596196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More sophisticated semantic RAG with embedding models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708510" y="6451844"/>
            <a:ext cx="6596196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Report history, saved conversations, and PDF export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08510" y="7152980"/>
            <a:ext cx="6596196" cy="23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Additional HR modules, expanded NLU, and production deployment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26494" y="7856639"/>
            <a:ext cx="6878222" cy="657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200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Thank You — Questions Welcome</a:t>
            </a:r>
          </a:p>
          <a:p>
            <a:pPr algn="l">
              <a:lnSpc>
                <a:spcPts val="1584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Non-technical users can now ask HR questions without writing SQL, while database access remains controlled, validated, and dataset-specific.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184644" y="7781477"/>
            <a:ext cx="19050" cy="826884"/>
            <a:chOff x="0" y="0"/>
            <a:chExt cx="25400" cy="110251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400" cy="1102487"/>
            </a:xfrm>
            <a:custGeom>
              <a:avLst/>
              <a:gdLst/>
              <a:ahLst/>
              <a:cxnLst/>
              <a:rect l="l" t="t" r="r" b="b"/>
              <a:pathLst>
                <a:path w="25400" h="1102487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089787"/>
                  </a:lnTo>
                  <a:cubicBezTo>
                    <a:pt x="25400" y="1096772"/>
                    <a:pt x="19685" y="1102487"/>
                    <a:pt x="12700" y="1102487"/>
                  </a:cubicBezTo>
                  <a:cubicBezTo>
                    <a:pt x="5715" y="1102487"/>
                    <a:pt x="0" y="1096772"/>
                    <a:pt x="0" y="1089787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1754</Words>
  <Application>Microsoft Office PowerPoint</Application>
  <PresentationFormat>Custom</PresentationFormat>
  <Paragraphs>297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Roboto Bold</vt:lpstr>
      <vt:lpstr>Calibri (MS)</vt:lpstr>
      <vt:lpstr>Roboto Italics</vt:lpstr>
      <vt:lpstr>Arial</vt:lpstr>
      <vt:lpstr>Raleway Light</vt:lpstr>
      <vt:lpstr>Roboto</vt:lpstr>
      <vt:lpstr>Calibri</vt:lpstr>
      <vt:lpstr>Raleway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 makvana</cp:lastModifiedBy>
  <cp:revision>3</cp:revision>
  <dcterms:created xsi:type="dcterms:W3CDTF">2006-08-16T00:00:00Z</dcterms:created>
  <dcterms:modified xsi:type="dcterms:W3CDTF">2026-09-15T18:03:36Z</dcterms:modified>
  <dc:identifier>DAHVSR0wlM4</dc:identifier>
</cp:coreProperties>
</file>